
<file path=[Content_Types].xml><?xml version="1.0" encoding="utf-8"?>
<Types xmlns="http://schemas.openxmlformats.org/package/2006/content-types">
  <Default ContentType="image/jpeg" Extension="jpg"/>
  <Default ContentType="image/vnd.ms-photo" Extension="wdp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image/x-emf" Extension="em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49" r:id="rId5"/>
    <p:sldMasterId id="2147483650" r:id="rId6"/>
    <p:sldMasterId id="2147483651" r:id="rId7"/>
    <p:sldMasterId id="2147483652" r:id="rId8"/>
    <p:sldMasterId id="2147483653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y="7777150" cx="10909300"/>
  <p:notesSz cx="6797675" cy="9928225"/>
  <p:defaultTextStyle>
    <a:defPPr lvl="0">
      <a:defRPr lang="ko-KR"/>
    </a:defPPr>
    <a:lvl1pPr defTabSz="1067745" eaLnBrk="1" hangingPunct="1" latinLnBrk="1" lvl="0" marL="0" rtl="0" algn="l">
      <a:defRPr kern="1200" sz="2100">
        <a:solidFill>
          <a:schemeClr val="tx1"/>
        </a:solidFill>
        <a:latin typeface="+mn-lt"/>
        <a:ea typeface="+mn-ea"/>
        <a:cs typeface="+mn-cs"/>
      </a:defRPr>
    </a:lvl1pPr>
    <a:lvl2pPr defTabSz="1067745" eaLnBrk="1" hangingPunct="1" latinLnBrk="1" lvl="1" marL="533872" rtl="0" algn="l">
      <a:defRPr kern="1200" sz="2100">
        <a:solidFill>
          <a:schemeClr val="tx1"/>
        </a:solidFill>
        <a:latin typeface="+mn-lt"/>
        <a:ea typeface="+mn-ea"/>
        <a:cs typeface="+mn-cs"/>
      </a:defRPr>
    </a:lvl2pPr>
    <a:lvl3pPr defTabSz="1067745" eaLnBrk="1" hangingPunct="1" latinLnBrk="1" lvl="2" marL="1067745" rtl="0" algn="l">
      <a:defRPr kern="1200" sz="2100">
        <a:solidFill>
          <a:schemeClr val="tx1"/>
        </a:solidFill>
        <a:latin typeface="+mn-lt"/>
        <a:ea typeface="+mn-ea"/>
        <a:cs typeface="+mn-cs"/>
      </a:defRPr>
    </a:lvl3pPr>
    <a:lvl4pPr defTabSz="1067745" eaLnBrk="1" hangingPunct="1" latinLnBrk="1" lvl="3" marL="1601617" rtl="0" algn="l">
      <a:defRPr kern="1200" sz="2100">
        <a:solidFill>
          <a:schemeClr val="tx1"/>
        </a:solidFill>
        <a:latin typeface="+mn-lt"/>
        <a:ea typeface="+mn-ea"/>
        <a:cs typeface="+mn-cs"/>
      </a:defRPr>
    </a:lvl4pPr>
    <a:lvl5pPr defTabSz="1067745" eaLnBrk="1" hangingPunct="1" latinLnBrk="1" lvl="4" marL="2135490" rtl="0" algn="l">
      <a:defRPr kern="1200" sz="2100">
        <a:solidFill>
          <a:schemeClr val="tx1"/>
        </a:solidFill>
        <a:latin typeface="+mn-lt"/>
        <a:ea typeface="+mn-ea"/>
        <a:cs typeface="+mn-cs"/>
      </a:defRPr>
    </a:lvl5pPr>
    <a:lvl6pPr defTabSz="1067745" eaLnBrk="1" hangingPunct="1" latinLnBrk="1" lvl="5" marL="2669362" rtl="0" algn="l">
      <a:defRPr kern="1200" sz="2100">
        <a:solidFill>
          <a:schemeClr val="tx1"/>
        </a:solidFill>
        <a:latin typeface="+mn-lt"/>
        <a:ea typeface="+mn-ea"/>
        <a:cs typeface="+mn-cs"/>
      </a:defRPr>
    </a:lvl6pPr>
    <a:lvl7pPr defTabSz="1067745" eaLnBrk="1" hangingPunct="1" latinLnBrk="1" lvl="6" marL="3203235" rtl="0" algn="l">
      <a:defRPr kern="1200" sz="2100">
        <a:solidFill>
          <a:schemeClr val="tx1"/>
        </a:solidFill>
        <a:latin typeface="+mn-lt"/>
        <a:ea typeface="+mn-ea"/>
        <a:cs typeface="+mn-cs"/>
      </a:defRPr>
    </a:lvl7pPr>
    <a:lvl8pPr defTabSz="1067745" eaLnBrk="1" hangingPunct="1" latinLnBrk="1" lvl="7" marL="3737107" rtl="0" algn="l">
      <a:defRPr kern="1200" sz="2100">
        <a:solidFill>
          <a:schemeClr val="tx1"/>
        </a:solidFill>
        <a:latin typeface="+mn-lt"/>
        <a:ea typeface="+mn-ea"/>
        <a:cs typeface="+mn-cs"/>
      </a:defRPr>
    </a:lvl8pPr>
    <a:lvl9pPr defTabSz="1067745" eaLnBrk="1" hangingPunct="1" latinLnBrk="1" lvl="8" marL="4270980" rtl="0" algn="l">
      <a:defRPr kern="1200" sz="21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408">
          <p15:clr>
            <a:srgbClr val="A4A3A4"/>
          </p15:clr>
        </p15:guide>
        <p15:guide id="2" orient="horz" pos="4082">
          <p15:clr>
            <a:srgbClr val="A4A3A4"/>
          </p15:clr>
        </p15:guide>
        <p15:guide id="3" orient="horz" pos="1134">
          <p15:clr>
            <a:srgbClr val="A4A3A4"/>
          </p15:clr>
        </p15:guide>
        <p15:guide id="4" orient="horz" pos="4037">
          <p15:clr>
            <a:srgbClr val="A4A3A4"/>
          </p15:clr>
        </p15:guide>
        <p15:guide id="5" pos="352">
          <p15:clr>
            <a:srgbClr val="A4A3A4"/>
          </p15:clr>
        </p15:guide>
        <p15:guide id="6" pos="6520">
          <p15:clr>
            <a:srgbClr val="A4A3A4"/>
          </p15:clr>
        </p15:guide>
        <p15:guide id="7" pos="760">
          <p15:clr>
            <a:srgbClr val="A4A3A4"/>
          </p15:clr>
        </p15:guide>
        <p15:guide id="8" orient="horz" pos="4536">
          <p15:clr>
            <a:srgbClr val="A4A3A4"/>
          </p15:clr>
        </p15:guide>
        <p15:guide id="9" orient="horz" pos="964">
          <p15:clr>
            <a:srgbClr val="A4A3A4"/>
          </p15:clr>
        </p15:guide>
        <p15:guide id="10" orient="horz" pos="2450">
          <p15:clr>
            <a:srgbClr val="A4A3A4"/>
          </p15:clr>
        </p15:guide>
        <p15:guide id="11" pos="276">
          <p15:clr>
            <a:srgbClr val="A4A3A4"/>
          </p15:clr>
        </p15:guide>
        <p15:guide id="12" pos="6611">
          <p15:clr>
            <a:srgbClr val="A4A3A4"/>
          </p15:clr>
        </p15:guide>
        <p15:guide id="13" orient="horz" pos="4490">
          <p15:clr>
            <a:srgbClr val="A4A3A4"/>
          </p15:clr>
        </p15:guide>
        <p15:guide id="14" pos="5874">
          <p15:clr>
            <a:srgbClr val="A4A3A4"/>
          </p15:clr>
        </p15:guide>
        <p15:guide id="15" orient="horz" pos="952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8" orient="horz"/>
        <p:guide pos="4082" orient="horz"/>
        <p:guide pos="1134" orient="horz"/>
        <p:guide pos="4037" orient="horz"/>
        <p:guide pos="352"/>
        <p:guide pos="6520"/>
        <p:guide pos="760"/>
        <p:guide pos="4536" orient="horz"/>
        <p:guide pos="964" orient="horz"/>
        <p:guide pos="2450" orient="horz"/>
        <p:guide pos="276"/>
        <p:guide pos="6611"/>
        <p:guide pos="4490" orient="horz"/>
        <p:guide pos="5874"/>
        <p:guide pos="95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6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41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6" y="1"/>
            <a:ext cx="2945659" cy="49641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1377F23-1DC6-47FA-A9F3-452C92E767B7}" type="datetimeFigureOut">
              <a:rPr lang="ko-KR" altLang="en-US" smtClean="0"/>
              <a:pPr/>
              <a:t>2025-06-27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744538"/>
            <a:ext cx="5219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0" tIns="45716" rIns="91430" bIns="45716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6" y="9430091"/>
            <a:ext cx="2945659" cy="49641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0D49D57-1353-4685-8130-4312C57337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241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49D57-1353-4685-8130-4312C5733706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60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https://dcl-edit.com/install-guide/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49D57-1353-4685-8130-4312C57337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1843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49D57-1353-4685-8130-4312C57337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3459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49D57-1353-4685-8130-4312C57337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8533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49D57-1353-4685-8130-4312C57337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339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박창현\Desktop\2x\자산 2@2x-8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61" y="461500"/>
            <a:ext cx="1430852" cy="28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68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-1"/>
            <a:ext cx="10909300" cy="7777163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24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61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05E6861-F116-4AC1-BE6F-752709A3D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b="6356"/>
          <a:stretch/>
        </p:blipFill>
        <p:spPr>
          <a:xfrm>
            <a:off x="8687789" y="329339"/>
            <a:ext cx="1766633" cy="3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2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12860" y="316155"/>
            <a:ext cx="756618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/>
                <a:ea typeface="NANUMGOTHIC EXTRABOLD" panose="020D0604000000000000" pitchFamily="34" charset="-127"/>
                <a:cs typeface="+mn-cs"/>
              </a:rPr>
              <a:t>Ⅰ</a:t>
            </a: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연구과제  배경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필요성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41244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371603" y="461135"/>
            <a:ext cx="42960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연구과제</a:t>
            </a:r>
            <a:endParaRPr lang="en-US" altLang="ko-KR" sz="1000" b="1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소개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927197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 bwMode="gray">
          <a:xfrm>
            <a:off x="365103" y="432334"/>
            <a:ext cx="46166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연구과제</a:t>
            </a:r>
            <a:br>
              <a:rPr lang="en-US" altLang="ko-KR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</a:b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소개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02173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 bwMode="gray">
          <a:xfrm>
            <a:off x="357849" y="259981"/>
            <a:ext cx="429605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Ⅳ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성과활용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효과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77379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FFF29E-CF27-482D-9B40-409A53452E5D}"/>
              </a:ext>
            </a:extLst>
          </p:cNvPr>
          <p:cNvSpPr/>
          <p:nvPr userDrawn="1"/>
        </p:nvSpPr>
        <p:spPr>
          <a:xfrm>
            <a:off x="135037" y="420220"/>
            <a:ext cx="855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2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340012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0C58A705-8790-465D-8E9D-055B8CC4E2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3795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360336" y="458341"/>
            <a:ext cx="46166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연구과제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소개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203432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95461" y="318949"/>
            <a:ext cx="581891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Ⅱ</a:t>
            </a:r>
            <a:endParaRPr lang="ko-KR" altLang="en-US" sz="280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연구개발 </a:t>
            </a:r>
            <a:endParaRPr lang="en-US" altLang="ko-KR" sz="1000" b="1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목표 및 내용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723514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 bwMode="gray">
          <a:xfrm>
            <a:off x="304990" y="259979"/>
            <a:ext cx="581891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Ⅲ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연구개발</a:t>
            </a:r>
            <a:br>
              <a:rPr lang="en-US" altLang="ko-KR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</a:b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전략 및 체계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214089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 bwMode="gray">
          <a:xfrm>
            <a:off x="357849" y="259981"/>
            <a:ext cx="429605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Ⅳ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성과활용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효과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493057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FFF29E-CF27-482D-9B40-409A53452E5D}"/>
              </a:ext>
            </a:extLst>
          </p:cNvPr>
          <p:cNvSpPr/>
          <p:nvPr userDrawn="1"/>
        </p:nvSpPr>
        <p:spPr>
          <a:xfrm>
            <a:off x="135037" y="420220"/>
            <a:ext cx="855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2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40366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303908" y="285773"/>
            <a:ext cx="556242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ko-KR" sz="3300" b="1" i="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Ⅰ</a:t>
            </a:r>
          </a:p>
          <a:p>
            <a:pPr indent="-342900" algn="ctr" defTabSz="914400">
              <a:lnSpc>
                <a:spcPct val="80000"/>
              </a:lnSpc>
              <a:defRPr/>
            </a:pPr>
            <a:r>
              <a:rPr lang="ko-KR" altLang="en-US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</a:t>
            </a:r>
            <a:r>
              <a:rPr lang="en-US" altLang="ko-KR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 </a:t>
            </a:r>
            <a:r>
              <a:rPr lang="ko-KR" altLang="en-US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개요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C144CABC-6CAA-9482-D278-D7792C9379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895615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0C58A705-8790-465D-8E9D-055B8CC4E2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106630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05E6861-F116-4AC1-BE6F-752709A3D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b="6356"/>
          <a:stretch/>
        </p:blipFill>
        <p:spPr>
          <a:xfrm>
            <a:off x="8687789" y="329339"/>
            <a:ext cx="1766633" cy="3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12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12860" y="316155"/>
            <a:ext cx="756618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/>
                <a:ea typeface="NANUMGOTHIC EXTRABOLD" panose="020D0604000000000000" pitchFamily="34" charset="-127"/>
                <a:cs typeface="+mn-cs"/>
              </a:rPr>
              <a:t>Ⅰ</a:t>
            </a: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연구과제  배경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필요성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76224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65806" y="318949"/>
            <a:ext cx="641202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b="1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/>
                <a:cs typeface="+mn-cs"/>
              </a:rPr>
              <a:t>Ⅱ</a:t>
            </a:r>
            <a:endParaRPr lang="ko-KR" altLang="en-US" sz="2800" b="1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연구개발 </a:t>
            </a:r>
            <a:endParaRPr lang="en-US" altLang="ko-KR" sz="1000" b="1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목표 및 내용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881326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 bwMode="gray">
          <a:xfrm>
            <a:off x="304990" y="259979"/>
            <a:ext cx="581891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Ⅲ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연구개발</a:t>
            </a:r>
            <a:br>
              <a:rPr lang="en-US" altLang="ko-KR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</a:b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전략 및 체계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77939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 bwMode="gray">
          <a:xfrm>
            <a:off x="357849" y="259981"/>
            <a:ext cx="429605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Ⅳ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성과활용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효과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42507659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FFF29E-CF27-482D-9B40-409A53452E5D}"/>
              </a:ext>
            </a:extLst>
          </p:cNvPr>
          <p:cNvSpPr/>
          <p:nvPr userDrawn="1"/>
        </p:nvSpPr>
        <p:spPr>
          <a:xfrm>
            <a:off x="135037" y="420220"/>
            <a:ext cx="855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2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3992099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303908" y="285773"/>
            <a:ext cx="556242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ko-KR" sz="3300" b="1" i="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Ⅰ</a:t>
            </a:r>
          </a:p>
          <a:p>
            <a:pPr indent="-342900" algn="ctr" defTabSz="914400">
              <a:lnSpc>
                <a:spcPct val="80000"/>
              </a:lnSpc>
              <a:defRPr/>
            </a:pPr>
            <a:r>
              <a:rPr lang="ko-KR" altLang="en-US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</a:t>
            </a:r>
            <a:r>
              <a:rPr lang="en-US" altLang="ko-KR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 </a:t>
            </a:r>
            <a:r>
              <a:rPr lang="ko-KR" altLang="en-US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개요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C144CABC-6CAA-9482-D278-D7792C9379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8144510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0C58A705-8790-465D-8E9D-055B8CC4E2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4721751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12860" y="316155"/>
            <a:ext cx="756618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Ⅰ</a:t>
            </a: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연구과제  배경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필요성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276805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95461" y="318949"/>
            <a:ext cx="581891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Ⅱ</a:t>
            </a:r>
            <a:endParaRPr lang="ko-KR" altLang="en-US" sz="280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연구개발 </a:t>
            </a:r>
            <a:endParaRPr lang="en-US" altLang="ko-KR" sz="1000" b="1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목표 및 내용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7647699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 bwMode="gray">
          <a:xfrm>
            <a:off x="304990" y="259979"/>
            <a:ext cx="581891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Ⅲ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연구개발</a:t>
            </a:r>
            <a:br>
              <a:rPr lang="en-US" altLang="ko-KR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</a:b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전략 및 체계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2834098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 bwMode="gray">
          <a:xfrm>
            <a:off x="357849" y="259981"/>
            <a:ext cx="429605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Ⅳ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성과활용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효과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8016245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FFF29E-CF27-482D-9B40-409A53452E5D}"/>
              </a:ext>
            </a:extLst>
          </p:cNvPr>
          <p:cNvSpPr/>
          <p:nvPr userDrawn="1"/>
        </p:nvSpPr>
        <p:spPr>
          <a:xfrm>
            <a:off x="135037" y="420220"/>
            <a:ext cx="855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2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1334413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303908" y="285773"/>
            <a:ext cx="556242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altLang="ko-KR" sz="3300" b="1" i="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Ⅰ</a:t>
            </a:r>
          </a:p>
          <a:p>
            <a:pPr indent="-342900" algn="ctr" defTabSz="914400">
              <a:lnSpc>
                <a:spcPct val="80000"/>
              </a:lnSpc>
              <a:defRPr/>
            </a:pPr>
            <a:r>
              <a:rPr lang="ko-KR" altLang="en-US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</a:t>
            </a:r>
            <a:r>
              <a:rPr lang="en-US" altLang="ko-KR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 </a:t>
            </a:r>
            <a:r>
              <a:rPr lang="ko-KR" altLang="en-US" sz="1200" b="1" i="0" spc="-10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개요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C144CABC-6CAA-9482-D278-D7792C9379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8674428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0C58A705-8790-465D-8E9D-055B8CC4E2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2361907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05E6861-F116-4AC1-BE6F-752709A3D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b="6356"/>
          <a:stretch/>
        </p:blipFill>
        <p:spPr>
          <a:xfrm>
            <a:off x="8687789" y="329339"/>
            <a:ext cx="1766633" cy="3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198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12860" y="316155"/>
            <a:ext cx="756618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/>
                <a:ea typeface="NANUMGOTHIC EXTRABOLD" panose="020D0604000000000000" pitchFamily="34" charset="-127"/>
                <a:cs typeface="+mn-cs"/>
              </a:rPr>
              <a:t>Ⅰ</a:t>
            </a: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연구과제  배경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필요성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5839736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/>
          <p:cNvSpPr/>
          <p:nvPr userDrawn="1"/>
        </p:nvSpPr>
        <p:spPr bwMode="gray">
          <a:xfrm>
            <a:off x="265806" y="318949"/>
            <a:ext cx="641202" cy="56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66000"/>
              </a:lnSpc>
              <a:defRPr/>
            </a:pPr>
            <a:r>
              <a:rPr lang="en-US" altLang="ko-KR" sz="2800" b="1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/>
                <a:cs typeface="+mn-cs"/>
              </a:rPr>
              <a:t>Ⅱ</a:t>
            </a:r>
            <a:endParaRPr lang="ko-KR" altLang="en-US" sz="2800" b="1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연구개발 </a:t>
            </a:r>
            <a:endParaRPr lang="en-US" altLang="ko-KR" sz="1000" b="1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rPr>
              <a:t>목표 및 내용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0665293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 bwMode="gray">
          <a:xfrm>
            <a:off x="275335" y="259979"/>
            <a:ext cx="641201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Ⅲ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연구개발</a:t>
            </a:r>
            <a:br>
              <a:rPr lang="en-US" altLang="ko-KR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</a:b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체계 및 전략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1460922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 bwMode="gray">
          <a:xfrm>
            <a:off x="357849" y="259981"/>
            <a:ext cx="429605" cy="62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lvl="0" algn="ctr" defTabSz="1067745" rtl="0" eaLnBrk="1" latinLnBrk="1" hangingPunct="1">
              <a:lnSpc>
                <a:spcPct val="80000"/>
              </a:lnSpc>
              <a:defRPr/>
            </a:pPr>
            <a:r>
              <a:rPr lang="en-US" altLang="ko-KR" sz="2800" b="1" i="0" kern="1200" spc="-100" dirty="0"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+mn-cs"/>
              </a:rPr>
              <a:t>Ⅳ</a:t>
            </a:r>
            <a:endParaRPr lang="ko-KR" altLang="en-US" sz="2800" b="1" i="0" kern="1200" spc="-100" dirty="0"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+mn-cs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성과활용</a:t>
            </a:r>
            <a:endParaRPr lang="en-US" altLang="ko-KR" sz="1000" b="1" i="0" kern="1200" spc="-100" dirty="0">
              <a:gradFill>
                <a:gsLst>
                  <a:gs pos="6667">
                    <a:schemeClr val="bg1">
                      <a:lumMod val="65000"/>
                    </a:schemeClr>
                  </a:gs>
                  <a:gs pos="24000">
                    <a:schemeClr val="bg1">
                      <a:lumMod val="65000"/>
                    </a:schemeClr>
                  </a:gs>
                </a:gsLst>
                <a:lin ang="5400000" scaled="0"/>
              </a:gradFill>
              <a:latin typeface="NANUMGOTHIC EXTRABOLD" panose="020D0604000000000000" pitchFamily="34" charset="-127"/>
              <a:ea typeface="NANUMGOTHIC EXTRABOLD" panose="020D0604000000000000" pitchFamily="34" charset="-127"/>
              <a:cs typeface="Arial" pitchFamily="34" charset="0"/>
            </a:endParaRPr>
          </a:p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1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및 효과</a:t>
            </a:r>
          </a:p>
        </p:txBody>
      </p:sp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9191856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FFF29E-CF27-482D-9B40-409A53452E5D}"/>
              </a:ext>
            </a:extLst>
          </p:cNvPr>
          <p:cNvSpPr/>
          <p:nvPr userDrawn="1"/>
        </p:nvSpPr>
        <p:spPr>
          <a:xfrm>
            <a:off x="135037" y="420220"/>
            <a:ext cx="855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-342900" algn="ctr" defTabSz="914400" rtl="0" eaLnBrk="1" latinLnBrk="1" hangingPunct="1">
              <a:lnSpc>
                <a:spcPct val="90000"/>
              </a:lnSpc>
              <a:defRPr/>
            </a:pPr>
            <a:r>
              <a:rPr lang="ko-KR" altLang="en-US" sz="2000" b="1" i="0" kern="1200" spc="-100" dirty="0">
                <a:gradFill>
                  <a:gsLst>
                    <a:gs pos="6667">
                      <a:schemeClr val="bg1">
                        <a:lumMod val="65000"/>
                      </a:schemeClr>
                    </a:gs>
                    <a:gs pos="24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rPr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6887965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0C58A705-8790-465D-8E9D-055B8CC4E2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837" y="404778"/>
            <a:ext cx="2879725" cy="504825"/>
          </a:xfrm>
          <a:prstGeom prst="rect">
            <a:avLst/>
          </a:prstGeom>
        </p:spPr>
        <p:txBody>
          <a:bodyPr wrap="none"/>
          <a:lstStyle>
            <a:lvl1pPr marL="0" indent="0" algn="l" defTabSz="1067745" rtl="0" eaLnBrk="1" latinLnBrk="1" hangingPunct="1">
              <a:spcBef>
                <a:spcPct val="0"/>
              </a:spcBef>
              <a:buFont typeface="Arial" pitchFamily="34" charset="0"/>
              <a:buNone/>
              <a:defRPr lang="ko-KR" altLang="en-US" sz="2500" b="1" i="0" kern="1200" spc="-200" baseline="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22644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5.emf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30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29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10" Type="http://schemas.openxmlformats.org/officeDocument/2006/relationships/image" Target="../media/image5.emf"/><Relationship Id="rId4" Type="http://schemas.openxmlformats.org/officeDocument/2006/relationships/slideLayout" Target="../slideLayouts/slideLayout37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9596157" y="0"/>
            <a:ext cx="1313141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srgbClr val="215F81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53F51F-F35C-44BE-A9B2-CE0CD2840DDC}"/>
              </a:ext>
            </a:extLst>
          </p:cNvPr>
          <p:cNvSpPr/>
          <p:nvPr userDrawn="1"/>
        </p:nvSpPr>
        <p:spPr bwMode="gray">
          <a:xfrm>
            <a:off x="-244" y="7347317"/>
            <a:ext cx="10909300" cy="429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5164223" y="7445097"/>
            <a:ext cx="580856" cy="234286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[ </a:t>
            </a:r>
            <a:fld id="{3ECFCD10-07AE-4045-9AEA-8F25C6682DC3}" type="slidenum">
              <a:rPr lang="en-US" altLang="ko-KR" sz="1050" b="0" i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/>
              <a:t>‹#›</a:t>
            </a:fld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 ]</a:t>
            </a:r>
            <a:endParaRPr lang="ko-KR" altLang="en-US" sz="1050" b="0" i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-244" y="0"/>
            <a:ext cx="9596402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/>
          <p:cNvGrpSpPr/>
          <p:nvPr userDrawn="1"/>
        </p:nvGrpSpPr>
        <p:grpSpPr>
          <a:xfrm>
            <a:off x="1" y="-8"/>
            <a:ext cx="4104000" cy="1176101"/>
            <a:chOff x="0" y="-8"/>
            <a:chExt cx="3204000" cy="1176101"/>
          </a:xfrm>
        </p:grpSpPr>
        <p:sp>
          <p:nvSpPr>
            <p:cNvPr id="30" name="평행 사변형 29"/>
            <p:cNvSpPr/>
            <p:nvPr userDrawn="1"/>
          </p:nvSpPr>
          <p:spPr>
            <a:xfrm flipV="1">
              <a:off x="0" y="-8"/>
              <a:ext cx="3204000" cy="1176101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80000">
                  <a:schemeClr val="bg1">
                    <a:lumMod val="9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평행 사변형 30"/>
            <p:cNvSpPr/>
            <p:nvPr userDrawn="1"/>
          </p:nvSpPr>
          <p:spPr>
            <a:xfrm flipV="1">
              <a:off x="2142282" y="0"/>
              <a:ext cx="792000" cy="603526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39000">
                  <a:schemeClr val="bg1">
                    <a:lumMod val="95000"/>
                    <a:alpha val="57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5" name="직사각형 44"/>
          <p:cNvSpPr/>
          <p:nvPr userDrawn="1"/>
        </p:nvSpPr>
        <p:spPr>
          <a:xfrm>
            <a:off x="0" y="850923"/>
            <a:ext cx="10909056" cy="265077"/>
          </a:xfrm>
          <a:prstGeom prst="rect">
            <a:avLst/>
          </a:prstGeom>
          <a:blipFill dpi="0" rotWithShape="1">
            <a:blip r:embed="rId8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/>
            <a:tile tx="0" ty="0" sx="10000" sy="1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343"/>
            <a:r>
              <a:rPr lang="en-US" altLang="ko-KR" b="0" i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0" y="0"/>
            <a:ext cx="195817" cy="17624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액자 46"/>
          <p:cNvSpPr/>
          <p:nvPr userDrawn="1"/>
        </p:nvSpPr>
        <p:spPr>
          <a:xfrm>
            <a:off x="168028" y="148772"/>
            <a:ext cx="828000" cy="828000"/>
          </a:xfrm>
          <a:prstGeom prst="frame">
            <a:avLst>
              <a:gd name="adj1" fmla="val 1036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8900000" scaled="1"/>
            <a:tileRect/>
          </a:gradFill>
          <a:ln>
            <a:noFill/>
          </a:ln>
          <a:effectLst>
            <a:outerShdw blurRad="50800" dist="1016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ko-KR" altLang="en-US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직사각형 47"/>
          <p:cNvSpPr/>
          <p:nvPr userDrawn="1"/>
        </p:nvSpPr>
        <p:spPr bwMode="gray">
          <a:xfrm>
            <a:off x="240028" y="220772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48"/>
          <p:cNvSpPr txBox="1"/>
          <p:nvPr userDrawn="1"/>
        </p:nvSpPr>
        <p:spPr bwMode="auto">
          <a:xfrm>
            <a:off x="1050230" y="69486"/>
            <a:ext cx="1682759" cy="331748"/>
          </a:xfrm>
          <a:prstGeom prst="rect">
            <a:avLst/>
          </a:prstGeom>
          <a:noFill/>
        </p:spPr>
        <p:txBody>
          <a:bodyPr wrap="none" lIns="36000" tIns="36000" rIns="36000" bIns="36000" anchor="ctr">
            <a:spAutoFit/>
          </a:bodyPr>
          <a:lstStyle/>
          <a:p>
            <a:pPr fontAlgn="base" latinLnBrk="0">
              <a:spcBef>
                <a:spcPts val="100"/>
              </a:spcBef>
            </a:pPr>
            <a:r>
              <a:rPr lang="ko-KR" altLang="en-US" sz="800" b="1" spc="-60" dirty="0">
                <a:ln w="3175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22917">
                      <a:srgbClr val="0079C5"/>
                    </a:gs>
                    <a:gs pos="100000">
                      <a:srgbClr val="0079C5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안전한 메타버스 환경을 위한</a:t>
            </a:r>
          </a:p>
          <a:p>
            <a:pPr fontAlgn="base" latinLnBrk="0">
              <a:spcBef>
                <a:spcPts val="100"/>
              </a:spcBef>
            </a:pPr>
            <a:r>
              <a:rPr lang="ko-KR" altLang="en-US" sz="800" b="1" spc="-60" dirty="0">
                <a:ln w="3175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99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사용자 인증 및 프라이버시 보호 기술개발</a:t>
            </a:r>
          </a:p>
        </p:txBody>
      </p:sp>
      <p:sp>
        <p:nvSpPr>
          <p:cNvPr id="50" name="직사각형 49"/>
          <p:cNvSpPr/>
          <p:nvPr userDrawn="1"/>
        </p:nvSpPr>
        <p:spPr>
          <a:xfrm>
            <a:off x="924028" y="400370"/>
            <a:ext cx="3810542" cy="503947"/>
          </a:xfrm>
          <a:prstGeom prst="rect">
            <a:avLst/>
          </a:prstGeom>
          <a:gradFill flip="none" rotWithShape="1">
            <a:gsLst>
              <a:gs pos="4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직사각형 50"/>
          <p:cNvSpPr/>
          <p:nvPr userDrawn="1"/>
        </p:nvSpPr>
        <p:spPr>
          <a:xfrm>
            <a:off x="924028" y="400370"/>
            <a:ext cx="72000" cy="503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086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714" r:id="rId6"/>
  </p:sldLayoutIdLst>
  <p:hf hdr="0" ftr="0" dt="0"/>
  <p:txStyles>
    <p:titleStyle>
      <a:lvl1pPr algn="ctr" defTabSz="1067745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404" indent="-400404" algn="l" defTabSz="1067745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7543" indent="-333670" algn="l" defTabSz="1067745" rtl="0" eaLnBrk="1" latinLnBrk="1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3468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68554" indent="-266936" algn="l" defTabSz="1067745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2426" indent="-266936" algn="l" defTabSz="1067745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6298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017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4043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37916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387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774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161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49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6936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323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710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098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9596157" y="0"/>
            <a:ext cx="1313141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srgbClr val="215F81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53F51F-F35C-44BE-A9B2-CE0CD2840DDC}"/>
              </a:ext>
            </a:extLst>
          </p:cNvPr>
          <p:cNvSpPr/>
          <p:nvPr userDrawn="1"/>
        </p:nvSpPr>
        <p:spPr bwMode="gray">
          <a:xfrm>
            <a:off x="-244" y="7347317"/>
            <a:ext cx="10909300" cy="429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5164223" y="7445097"/>
            <a:ext cx="580856" cy="234286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[ </a:t>
            </a:r>
            <a:fld id="{3ECFCD10-07AE-4045-9AEA-8F25C6682DC3}" type="slidenum">
              <a:rPr lang="en-US" altLang="ko-KR" sz="1050" b="0" i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/>
              <a:t>‹#›</a:t>
            </a:fld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 ]</a:t>
            </a:r>
            <a:endParaRPr lang="ko-KR" altLang="en-US" sz="1050" b="0" i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-244" y="0"/>
            <a:ext cx="9596402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/>
          <p:cNvGrpSpPr/>
          <p:nvPr userDrawn="1"/>
        </p:nvGrpSpPr>
        <p:grpSpPr>
          <a:xfrm>
            <a:off x="1" y="-8"/>
            <a:ext cx="4104000" cy="1176101"/>
            <a:chOff x="0" y="-8"/>
            <a:chExt cx="3204000" cy="1176101"/>
          </a:xfrm>
        </p:grpSpPr>
        <p:sp>
          <p:nvSpPr>
            <p:cNvPr id="30" name="평행 사변형 29"/>
            <p:cNvSpPr/>
            <p:nvPr userDrawn="1"/>
          </p:nvSpPr>
          <p:spPr>
            <a:xfrm flipV="1">
              <a:off x="0" y="-8"/>
              <a:ext cx="3204000" cy="1176101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80000">
                  <a:schemeClr val="bg1">
                    <a:lumMod val="9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평행 사변형 30"/>
            <p:cNvSpPr/>
            <p:nvPr userDrawn="1"/>
          </p:nvSpPr>
          <p:spPr>
            <a:xfrm flipV="1">
              <a:off x="2142282" y="0"/>
              <a:ext cx="792000" cy="603526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39000">
                  <a:schemeClr val="bg1">
                    <a:lumMod val="95000"/>
                    <a:alpha val="57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5" name="직사각형 44"/>
          <p:cNvSpPr/>
          <p:nvPr userDrawn="1"/>
        </p:nvSpPr>
        <p:spPr>
          <a:xfrm>
            <a:off x="0" y="850923"/>
            <a:ext cx="10909056" cy="265077"/>
          </a:xfrm>
          <a:prstGeom prst="rect">
            <a:avLst/>
          </a:prstGeom>
          <a:blipFill dpi="0" rotWithShape="1">
            <a:blip r:embed="rId10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/>
            <a:tile tx="0" ty="0" sx="10000" sy="1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343"/>
            <a:r>
              <a:rPr lang="en-US" altLang="ko-KR" b="0" i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0" y="0"/>
            <a:ext cx="195817" cy="17624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액자 46"/>
          <p:cNvSpPr/>
          <p:nvPr userDrawn="1"/>
        </p:nvSpPr>
        <p:spPr>
          <a:xfrm>
            <a:off x="168028" y="148772"/>
            <a:ext cx="828000" cy="828000"/>
          </a:xfrm>
          <a:prstGeom prst="frame">
            <a:avLst>
              <a:gd name="adj1" fmla="val 1036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8900000" scaled="1"/>
            <a:tileRect/>
          </a:gradFill>
          <a:ln>
            <a:noFill/>
          </a:ln>
          <a:effectLst>
            <a:outerShdw blurRad="50800" dist="1016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ko-KR" altLang="en-US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직사각형 47"/>
          <p:cNvSpPr/>
          <p:nvPr userDrawn="1"/>
        </p:nvSpPr>
        <p:spPr bwMode="gray">
          <a:xfrm>
            <a:off x="240028" y="220772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직사각형 49"/>
          <p:cNvSpPr/>
          <p:nvPr userDrawn="1"/>
        </p:nvSpPr>
        <p:spPr>
          <a:xfrm>
            <a:off x="924028" y="400370"/>
            <a:ext cx="3810542" cy="503947"/>
          </a:xfrm>
          <a:prstGeom prst="rect">
            <a:avLst/>
          </a:prstGeom>
          <a:gradFill flip="none" rotWithShape="1">
            <a:gsLst>
              <a:gs pos="4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직사각형 50"/>
          <p:cNvSpPr/>
          <p:nvPr userDrawn="1"/>
        </p:nvSpPr>
        <p:spPr>
          <a:xfrm>
            <a:off x="924028" y="400370"/>
            <a:ext cx="72000" cy="503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76B7219-259D-4798-B916-F2678E3E0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t="1" b="6356"/>
          <a:stretch/>
        </p:blipFill>
        <p:spPr>
          <a:xfrm>
            <a:off x="9703122" y="7509764"/>
            <a:ext cx="882080" cy="1331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E7230F-95FC-4557-811C-33A3725F644C}"/>
              </a:ext>
            </a:extLst>
          </p:cNvPr>
          <p:cNvSpPr txBox="1"/>
          <p:nvPr userDrawn="1"/>
        </p:nvSpPr>
        <p:spPr bwMode="auto">
          <a:xfrm>
            <a:off x="1050230" y="69486"/>
            <a:ext cx="1682759" cy="331748"/>
          </a:xfrm>
          <a:prstGeom prst="rect">
            <a:avLst/>
          </a:prstGeom>
          <a:noFill/>
        </p:spPr>
        <p:txBody>
          <a:bodyPr wrap="none" lIns="36000" tIns="36000" rIns="36000" bIns="36000" anchor="ctr">
            <a:spAutoFit/>
          </a:bodyPr>
          <a:lstStyle/>
          <a:p>
            <a:pPr fontAlgn="base" latinLnBrk="0">
              <a:spcBef>
                <a:spcPts val="100"/>
              </a:spcBef>
            </a:pPr>
            <a:r>
              <a:rPr lang="ko-KR" altLang="en-US" sz="800" b="1" spc="-60" dirty="0">
                <a:ln w="3175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22917">
                      <a:srgbClr val="0079C5"/>
                    </a:gs>
                    <a:gs pos="100000">
                      <a:srgbClr val="0079C5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안전한 메타버스 환경을 위한</a:t>
            </a:r>
          </a:p>
          <a:p>
            <a:pPr fontAlgn="base" latinLnBrk="0">
              <a:spcBef>
                <a:spcPts val="100"/>
              </a:spcBef>
            </a:pPr>
            <a:r>
              <a:rPr lang="ko-KR" altLang="en-US" sz="800" b="1" spc="-60" dirty="0">
                <a:ln w="3175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99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사용자 인증 및 프라이버시 보호 기술개발</a:t>
            </a:r>
          </a:p>
        </p:txBody>
      </p:sp>
    </p:spTree>
    <p:extLst>
      <p:ext uri="{BB962C8B-B14F-4D97-AF65-F5344CB8AC3E}">
        <p14:creationId xmlns:p14="http://schemas.microsoft.com/office/powerpoint/2010/main" val="274203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</p:sldLayoutIdLst>
  <p:hf hdr="0" ftr="0" dt="0"/>
  <p:txStyles>
    <p:titleStyle>
      <a:lvl1pPr algn="ctr" defTabSz="1067745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404" indent="-400404" algn="l" defTabSz="1067745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7543" indent="-333670" algn="l" defTabSz="1067745" rtl="0" eaLnBrk="1" latinLnBrk="1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3468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68554" indent="-266936" algn="l" defTabSz="1067745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2426" indent="-266936" algn="l" defTabSz="1067745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6298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017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4043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37916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387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774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161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49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6936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323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710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098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9596157" y="0"/>
            <a:ext cx="1313141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srgbClr val="215F81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53F51F-F35C-44BE-A9B2-CE0CD2840DDC}"/>
              </a:ext>
            </a:extLst>
          </p:cNvPr>
          <p:cNvSpPr/>
          <p:nvPr userDrawn="1"/>
        </p:nvSpPr>
        <p:spPr bwMode="gray">
          <a:xfrm>
            <a:off x="-244" y="7347317"/>
            <a:ext cx="10909300" cy="429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5164223" y="7445097"/>
            <a:ext cx="580856" cy="234286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[ </a:t>
            </a:r>
            <a:fld id="{3ECFCD10-07AE-4045-9AEA-8F25C6682DC3}" type="slidenum">
              <a:rPr lang="en-US" altLang="ko-KR" sz="1050" b="0" i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/>
              <a:t>‹#›</a:t>
            </a:fld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 ]</a:t>
            </a:r>
            <a:endParaRPr lang="ko-KR" altLang="en-US" sz="1050" b="0" i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-244" y="0"/>
            <a:ext cx="9596402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/>
          <p:cNvGrpSpPr/>
          <p:nvPr userDrawn="1"/>
        </p:nvGrpSpPr>
        <p:grpSpPr>
          <a:xfrm>
            <a:off x="1" y="-8"/>
            <a:ext cx="4104000" cy="1176101"/>
            <a:chOff x="0" y="-8"/>
            <a:chExt cx="3204000" cy="1176101"/>
          </a:xfrm>
        </p:grpSpPr>
        <p:sp>
          <p:nvSpPr>
            <p:cNvPr id="30" name="평행 사변형 29"/>
            <p:cNvSpPr/>
            <p:nvPr userDrawn="1"/>
          </p:nvSpPr>
          <p:spPr>
            <a:xfrm flipV="1">
              <a:off x="0" y="-8"/>
              <a:ext cx="3204000" cy="1176101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80000">
                  <a:schemeClr val="bg1">
                    <a:lumMod val="9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평행 사변형 30"/>
            <p:cNvSpPr/>
            <p:nvPr userDrawn="1"/>
          </p:nvSpPr>
          <p:spPr>
            <a:xfrm flipV="1">
              <a:off x="2142282" y="0"/>
              <a:ext cx="792000" cy="603526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39000">
                  <a:schemeClr val="bg1">
                    <a:lumMod val="95000"/>
                    <a:alpha val="57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5" name="직사각형 44"/>
          <p:cNvSpPr/>
          <p:nvPr userDrawn="1"/>
        </p:nvSpPr>
        <p:spPr>
          <a:xfrm>
            <a:off x="0" y="850923"/>
            <a:ext cx="10909056" cy="265077"/>
          </a:xfrm>
          <a:prstGeom prst="rect">
            <a:avLst/>
          </a:prstGeom>
          <a:blipFill dpi="0" rotWithShape="1">
            <a:blip r:embed="rId9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/>
            <a:tile tx="0" ty="0" sx="10000" sy="1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343"/>
            <a:r>
              <a:rPr lang="en-US" altLang="ko-KR" b="0" i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0" y="0"/>
            <a:ext cx="195817" cy="17624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액자 46"/>
          <p:cNvSpPr/>
          <p:nvPr userDrawn="1"/>
        </p:nvSpPr>
        <p:spPr>
          <a:xfrm>
            <a:off x="168028" y="148772"/>
            <a:ext cx="828000" cy="828000"/>
          </a:xfrm>
          <a:prstGeom prst="frame">
            <a:avLst>
              <a:gd name="adj1" fmla="val 1036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8900000" scaled="1"/>
            <a:tileRect/>
          </a:gradFill>
          <a:ln>
            <a:noFill/>
          </a:ln>
          <a:effectLst>
            <a:outerShdw blurRad="50800" dist="1016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ko-KR" altLang="en-US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직사각형 47"/>
          <p:cNvSpPr/>
          <p:nvPr userDrawn="1"/>
        </p:nvSpPr>
        <p:spPr bwMode="gray">
          <a:xfrm>
            <a:off x="240028" y="220772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48"/>
          <p:cNvSpPr txBox="1"/>
          <p:nvPr userDrawn="1"/>
        </p:nvSpPr>
        <p:spPr bwMode="auto">
          <a:xfrm>
            <a:off x="1050230" y="161009"/>
            <a:ext cx="3073525" cy="201969"/>
          </a:xfrm>
          <a:prstGeom prst="rect">
            <a:avLst/>
          </a:prstGeom>
          <a:noFill/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1067745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40" b="1" i="0" kern="0" spc="0" baseline="0" dirty="0">
                <a:gradFill>
                  <a:gsLst>
                    <a:gs pos="72917">
                      <a:schemeClr val="bg1">
                        <a:lumMod val="65000"/>
                      </a:schemeClr>
                    </a:gs>
                    <a:gs pos="59167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안전한 메타버스 환경을 위한 사용자 인증 및 프라이버시 보호 기술</a:t>
            </a:r>
          </a:p>
        </p:txBody>
      </p:sp>
      <p:sp>
        <p:nvSpPr>
          <p:cNvPr id="50" name="직사각형 49"/>
          <p:cNvSpPr/>
          <p:nvPr userDrawn="1"/>
        </p:nvSpPr>
        <p:spPr>
          <a:xfrm>
            <a:off x="924028" y="400370"/>
            <a:ext cx="3810542" cy="503947"/>
          </a:xfrm>
          <a:prstGeom prst="rect">
            <a:avLst/>
          </a:prstGeom>
          <a:gradFill flip="none" rotWithShape="1">
            <a:gsLst>
              <a:gs pos="4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직사각형 50"/>
          <p:cNvSpPr/>
          <p:nvPr userDrawn="1"/>
        </p:nvSpPr>
        <p:spPr>
          <a:xfrm>
            <a:off x="924028" y="400370"/>
            <a:ext cx="72000" cy="503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76B7219-259D-4798-B916-F2678E3E0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t="1" b="6356"/>
          <a:stretch/>
        </p:blipFill>
        <p:spPr>
          <a:xfrm>
            <a:off x="9703122" y="7509764"/>
            <a:ext cx="882080" cy="13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</p:sldLayoutIdLst>
  <p:hf hdr="0" ftr="0" dt="0"/>
  <p:txStyles>
    <p:titleStyle>
      <a:lvl1pPr algn="ctr" defTabSz="1067745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404" indent="-400404" algn="l" defTabSz="1067745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7543" indent="-333670" algn="l" defTabSz="1067745" rtl="0" eaLnBrk="1" latinLnBrk="1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3468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68554" indent="-266936" algn="l" defTabSz="1067745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2426" indent="-266936" algn="l" defTabSz="1067745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6298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017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4043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37916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387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774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161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49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6936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323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710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098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9596157" y="0"/>
            <a:ext cx="1313141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srgbClr val="215F81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53F51F-F35C-44BE-A9B2-CE0CD2840DDC}"/>
              </a:ext>
            </a:extLst>
          </p:cNvPr>
          <p:cNvSpPr/>
          <p:nvPr userDrawn="1"/>
        </p:nvSpPr>
        <p:spPr bwMode="gray">
          <a:xfrm>
            <a:off x="-244" y="7347317"/>
            <a:ext cx="10909300" cy="429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5164223" y="7445097"/>
            <a:ext cx="580856" cy="234286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[ </a:t>
            </a:r>
            <a:fld id="{3ECFCD10-07AE-4045-9AEA-8F25C6682DC3}" type="slidenum">
              <a:rPr lang="en-US" altLang="ko-KR" sz="1050" b="0" i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/>
              <a:t>‹#›</a:t>
            </a:fld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 ]</a:t>
            </a:r>
            <a:endParaRPr lang="ko-KR" altLang="en-US" sz="1050" b="0" i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-244" y="0"/>
            <a:ext cx="9596402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/>
          <p:cNvGrpSpPr/>
          <p:nvPr userDrawn="1"/>
        </p:nvGrpSpPr>
        <p:grpSpPr>
          <a:xfrm>
            <a:off x="1" y="-8"/>
            <a:ext cx="4104000" cy="1176101"/>
            <a:chOff x="0" y="-8"/>
            <a:chExt cx="3204000" cy="1176101"/>
          </a:xfrm>
        </p:grpSpPr>
        <p:sp>
          <p:nvSpPr>
            <p:cNvPr id="30" name="평행 사변형 29"/>
            <p:cNvSpPr/>
            <p:nvPr userDrawn="1"/>
          </p:nvSpPr>
          <p:spPr>
            <a:xfrm flipV="1">
              <a:off x="0" y="-8"/>
              <a:ext cx="3204000" cy="1176101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80000">
                  <a:schemeClr val="bg1">
                    <a:lumMod val="9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평행 사변형 30"/>
            <p:cNvSpPr/>
            <p:nvPr userDrawn="1"/>
          </p:nvSpPr>
          <p:spPr>
            <a:xfrm flipV="1">
              <a:off x="2142282" y="0"/>
              <a:ext cx="792000" cy="603526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39000">
                  <a:schemeClr val="bg1">
                    <a:lumMod val="95000"/>
                    <a:alpha val="57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5" name="직사각형 44"/>
          <p:cNvSpPr/>
          <p:nvPr userDrawn="1"/>
        </p:nvSpPr>
        <p:spPr>
          <a:xfrm>
            <a:off x="0" y="850923"/>
            <a:ext cx="10909056" cy="265077"/>
          </a:xfrm>
          <a:prstGeom prst="rect">
            <a:avLst/>
          </a:prstGeom>
          <a:blipFill dpi="0" rotWithShape="1">
            <a:blip r:embed="rId10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/>
            <a:tile tx="0" ty="0" sx="10000" sy="1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343"/>
            <a:r>
              <a:rPr lang="en-US" altLang="ko-KR" b="0" i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0" y="0"/>
            <a:ext cx="195817" cy="17624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액자 46"/>
          <p:cNvSpPr/>
          <p:nvPr userDrawn="1"/>
        </p:nvSpPr>
        <p:spPr>
          <a:xfrm>
            <a:off x="168028" y="148772"/>
            <a:ext cx="828000" cy="828000"/>
          </a:xfrm>
          <a:prstGeom prst="frame">
            <a:avLst>
              <a:gd name="adj1" fmla="val 1036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8900000" scaled="1"/>
            <a:tileRect/>
          </a:gradFill>
          <a:ln>
            <a:noFill/>
          </a:ln>
          <a:effectLst>
            <a:outerShdw blurRad="50800" dist="1016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ko-KR" altLang="en-US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직사각형 47"/>
          <p:cNvSpPr/>
          <p:nvPr userDrawn="1"/>
        </p:nvSpPr>
        <p:spPr bwMode="gray">
          <a:xfrm>
            <a:off x="240028" y="220772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직사각형 49"/>
          <p:cNvSpPr/>
          <p:nvPr userDrawn="1"/>
        </p:nvSpPr>
        <p:spPr>
          <a:xfrm>
            <a:off x="924028" y="400370"/>
            <a:ext cx="3810542" cy="503947"/>
          </a:xfrm>
          <a:prstGeom prst="rect">
            <a:avLst/>
          </a:prstGeom>
          <a:gradFill flip="none" rotWithShape="1">
            <a:gsLst>
              <a:gs pos="4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직사각형 50"/>
          <p:cNvSpPr/>
          <p:nvPr userDrawn="1"/>
        </p:nvSpPr>
        <p:spPr>
          <a:xfrm>
            <a:off x="924028" y="400370"/>
            <a:ext cx="72000" cy="503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76B7219-259D-4798-B916-F2678E3E0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t="1" b="6356"/>
          <a:stretch/>
        </p:blipFill>
        <p:spPr>
          <a:xfrm>
            <a:off x="9703122" y="7509764"/>
            <a:ext cx="882080" cy="1331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666E6E-CA5B-463F-9CA4-02EA3FC138BB}"/>
              </a:ext>
            </a:extLst>
          </p:cNvPr>
          <p:cNvSpPr txBox="1"/>
          <p:nvPr userDrawn="1"/>
        </p:nvSpPr>
        <p:spPr bwMode="auto">
          <a:xfrm>
            <a:off x="1050230" y="161009"/>
            <a:ext cx="3073525" cy="201969"/>
          </a:xfrm>
          <a:prstGeom prst="rect">
            <a:avLst/>
          </a:prstGeom>
          <a:noFill/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1067745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40" b="1" i="0" kern="0" spc="0" baseline="0" dirty="0">
                <a:gradFill>
                  <a:gsLst>
                    <a:gs pos="72917">
                      <a:schemeClr val="bg1">
                        <a:lumMod val="65000"/>
                      </a:schemeClr>
                    </a:gs>
                    <a:gs pos="59167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안전한 메타버스 환경을 위한 사용자 인증 및 프라이버시 보호 기술</a:t>
            </a:r>
          </a:p>
        </p:txBody>
      </p:sp>
    </p:spTree>
    <p:extLst>
      <p:ext uri="{BB962C8B-B14F-4D97-AF65-F5344CB8AC3E}">
        <p14:creationId xmlns:p14="http://schemas.microsoft.com/office/powerpoint/2010/main" val="118678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hf hdr="0" ftr="0" dt="0"/>
  <p:txStyles>
    <p:titleStyle>
      <a:lvl1pPr algn="ctr" defTabSz="1067745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404" indent="-400404" algn="l" defTabSz="1067745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7543" indent="-333670" algn="l" defTabSz="1067745" rtl="0" eaLnBrk="1" latinLnBrk="1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3468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68554" indent="-266936" algn="l" defTabSz="1067745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2426" indent="-266936" algn="l" defTabSz="1067745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6298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017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4043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37916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387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774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161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49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6936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323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710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098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9596157" y="0"/>
            <a:ext cx="1313141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srgbClr val="215F81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53F51F-F35C-44BE-A9B2-CE0CD2840DDC}"/>
              </a:ext>
            </a:extLst>
          </p:cNvPr>
          <p:cNvSpPr/>
          <p:nvPr userDrawn="1"/>
        </p:nvSpPr>
        <p:spPr bwMode="gray">
          <a:xfrm>
            <a:off x="-244" y="7347317"/>
            <a:ext cx="10909300" cy="429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5164223" y="7445097"/>
            <a:ext cx="580856" cy="234286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[ </a:t>
            </a:r>
            <a:fld id="{3ECFCD10-07AE-4045-9AEA-8F25C6682DC3}" type="slidenum">
              <a:rPr lang="en-US" altLang="ko-KR" sz="1050" b="0" i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/>
              <a:t>‹#›</a:t>
            </a:fld>
            <a:r>
              <a:rPr lang="en-US" altLang="ko-KR" sz="1050" b="0" i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NanumGothic" panose="020D0604000000000000" pitchFamily="34" charset="-127"/>
                <a:ea typeface="NanumGothic" panose="020D0604000000000000" pitchFamily="34" charset="-127"/>
              </a:rPr>
              <a:t> ]</a:t>
            </a:r>
            <a:endParaRPr lang="ko-KR" altLang="en-US" sz="1050" b="0" i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92DC1E-E5C9-41C7-B573-5C831B1A22CD}"/>
              </a:ext>
            </a:extLst>
          </p:cNvPr>
          <p:cNvSpPr/>
          <p:nvPr userDrawn="1"/>
        </p:nvSpPr>
        <p:spPr>
          <a:xfrm>
            <a:off x="-244" y="0"/>
            <a:ext cx="9596402" cy="11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/>
          <p:cNvGrpSpPr/>
          <p:nvPr userDrawn="1"/>
        </p:nvGrpSpPr>
        <p:grpSpPr>
          <a:xfrm>
            <a:off x="1" y="-8"/>
            <a:ext cx="4104000" cy="1176101"/>
            <a:chOff x="0" y="-8"/>
            <a:chExt cx="3204000" cy="1176101"/>
          </a:xfrm>
        </p:grpSpPr>
        <p:sp>
          <p:nvSpPr>
            <p:cNvPr id="30" name="평행 사변형 29"/>
            <p:cNvSpPr/>
            <p:nvPr userDrawn="1"/>
          </p:nvSpPr>
          <p:spPr>
            <a:xfrm flipV="1">
              <a:off x="0" y="-8"/>
              <a:ext cx="3204000" cy="1176101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80000">
                  <a:schemeClr val="bg1">
                    <a:lumMod val="9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평행 사변형 30"/>
            <p:cNvSpPr/>
            <p:nvPr userDrawn="1"/>
          </p:nvSpPr>
          <p:spPr>
            <a:xfrm flipV="1">
              <a:off x="2142282" y="0"/>
              <a:ext cx="792000" cy="603526"/>
            </a:xfrm>
            <a:prstGeom prst="parallelogram">
              <a:avLst>
                <a:gd name="adj" fmla="val 98666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39000">
                  <a:schemeClr val="bg1">
                    <a:lumMod val="95000"/>
                    <a:alpha val="57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20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5" name="직사각형 44"/>
          <p:cNvSpPr/>
          <p:nvPr userDrawn="1"/>
        </p:nvSpPr>
        <p:spPr>
          <a:xfrm>
            <a:off x="0" y="850923"/>
            <a:ext cx="10909056" cy="265077"/>
          </a:xfrm>
          <a:prstGeom prst="rect">
            <a:avLst/>
          </a:prstGeom>
          <a:blipFill dpi="0" rotWithShape="1">
            <a:blip r:embed="rId8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/>
            <a:tile tx="0" ty="0" sx="10000" sy="1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343"/>
            <a:r>
              <a:rPr lang="en-US" altLang="ko-KR" b="0" i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0" y="0"/>
            <a:ext cx="195817" cy="17624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액자 46"/>
          <p:cNvSpPr/>
          <p:nvPr userDrawn="1"/>
        </p:nvSpPr>
        <p:spPr>
          <a:xfrm>
            <a:off x="168028" y="148772"/>
            <a:ext cx="828000" cy="828000"/>
          </a:xfrm>
          <a:prstGeom prst="frame">
            <a:avLst>
              <a:gd name="adj1" fmla="val 1036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8900000" scaled="1"/>
            <a:tileRect/>
          </a:gradFill>
          <a:ln>
            <a:noFill/>
          </a:ln>
          <a:effectLst>
            <a:outerShdw blurRad="50800" dist="1016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ko-KR" altLang="en-US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직사각형 47"/>
          <p:cNvSpPr/>
          <p:nvPr userDrawn="1"/>
        </p:nvSpPr>
        <p:spPr bwMode="gray">
          <a:xfrm>
            <a:off x="240028" y="220772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n>
                <a:solidFill>
                  <a:schemeClr val="accent1">
                    <a:alpha val="0"/>
                  </a:schemeClr>
                </a:solidFill>
              </a:ln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48"/>
          <p:cNvSpPr txBox="1"/>
          <p:nvPr userDrawn="1"/>
        </p:nvSpPr>
        <p:spPr bwMode="auto">
          <a:xfrm>
            <a:off x="1050230" y="69486"/>
            <a:ext cx="1682759" cy="331748"/>
          </a:xfrm>
          <a:prstGeom prst="rect">
            <a:avLst/>
          </a:prstGeom>
          <a:noFill/>
        </p:spPr>
        <p:txBody>
          <a:bodyPr wrap="none" lIns="36000" tIns="36000" rIns="36000" bIns="36000" anchor="ctr">
            <a:spAutoFit/>
          </a:bodyPr>
          <a:lstStyle/>
          <a:p>
            <a:pPr fontAlgn="base" latinLnBrk="0">
              <a:spcBef>
                <a:spcPts val="100"/>
              </a:spcBef>
            </a:pPr>
            <a:r>
              <a:rPr lang="ko-KR" altLang="en-US" sz="800" b="1" spc="-60" dirty="0">
                <a:ln w="3175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22917">
                      <a:srgbClr val="0079C5"/>
                    </a:gs>
                    <a:gs pos="100000">
                      <a:srgbClr val="0079C5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안전한 메타버스 환경을 위한</a:t>
            </a:r>
          </a:p>
          <a:p>
            <a:pPr fontAlgn="base" latinLnBrk="0">
              <a:spcBef>
                <a:spcPts val="100"/>
              </a:spcBef>
            </a:pPr>
            <a:r>
              <a:rPr lang="ko-KR" altLang="en-US" sz="800" b="1" spc="-60" dirty="0">
                <a:ln w="3175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99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사용자 인증 및 프라이버시 보호 기술개발</a:t>
            </a:r>
          </a:p>
        </p:txBody>
      </p:sp>
      <p:sp>
        <p:nvSpPr>
          <p:cNvPr id="50" name="직사각형 49"/>
          <p:cNvSpPr/>
          <p:nvPr userDrawn="1"/>
        </p:nvSpPr>
        <p:spPr>
          <a:xfrm>
            <a:off x="924028" y="400370"/>
            <a:ext cx="3810542" cy="503947"/>
          </a:xfrm>
          <a:prstGeom prst="rect">
            <a:avLst/>
          </a:prstGeom>
          <a:gradFill flip="none" rotWithShape="1">
            <a:gsLst>
              <a:gs pos="4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직사각형 50"/>
          <p:cNvSpPr/>
          <p:nvPr userDrawn="1"/>
        </p:nvSpPr>
        <p:spPr>
          <a:xfrm>
            <a:off x="924028" y="400370"/>
            <a:ext cx="72000" cy="503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76B7219-259D-4798-B916-F2678E3E0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" b="6356"/>
          <a:stretch/>
        </p:blipFill>
        <p:spPr>
          <a:xfrm>
            <a:off x="9703122" y="7509764"/>
            <a:ext cx="882080" cy="13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0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</p:sldLayoutIdLst>
  <p:hf hdr="0" ftr="0" dt="0"/>
  <p:txStyles>
    <p:titleStyle>
      <a:lvl1pPr algn="ctr" defTabSz="1067745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404" indent="-400404" algn="l" defTabSz="1067745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7543" indent="-333670" algn="l" defTabSz="1067745" rtl="0" eaLnBrk="1" latinLnBrk="1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3468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68554" indent="-266936" algn="l" defTabSz="1067745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2426" indent="-266936" algn="l" defTabSz="1067745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6298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0171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4043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37916" indent="-266936" algn="l" defTabSz="1067745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387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774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161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49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69362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3235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7107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0980" algn="l" defTabSz="1067745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microsoft.com/office/2007/relationships/hdphoto" Target="../media/hdphoto4.wdp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microsoft.com/office/2007/relationships/hdphoto" Target="../media/hdphoto2.wdp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1083DC-2F1D-4743-85F6-4BF703566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837" y="404778"/>
            <a:ext cx="4645829" cy="504825"/>
          </a:xfrm>
        </p:spPr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실증 서비스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EE545E-6E80-428B-A8AC-BC8FFF599DD8}"/>
              </a:ext>
            </a:extLst>
          </p:cNvPr>
          <p:cNvSpPr/>
          <p:nvPr/>
        </p:nvSpPr>
        <p:spPr>
          <a:xfrm>
            <a:off x="558106" y="1152277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4131719-1DF6-4A35-8A49-04660189B24F}"/>
              </a:ext>
            </a:extLst>
          </p:cNvPr>
          <p:cNvGrpSpPr/>
          <p:nvPr/>
        </p:nvGrpSpPr>
        <p:grpSpPr>
          <a:xfrm>
            <a:off x="579695" y="1277222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A163374-2A47-48E8-9447-5E4712D05227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4843D3-103B-453D-96B9-4E4BA338A528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9CAA294-6860-44F9-887F-210588A28B00}"/>
              </a:ext>
            </a:extLst>
          </p:cNvPr>
          <p:cNvSpPr txBox="1"/>
          <p:nvPr/>
        </p:nvSpPr>
        <p:spPr>
          <a:xfrm>
            <a:off x="890130" y="1213878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latin typeface="나눔고딕"/>
                <a:ea typeface="나눔고딕"/>
              </a:rPr>
              <a:t>메타버스 아바타 권한 관리 실증 서비스 구현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BBC54E-935D-4052-AF7C-C6889CE73C2F}"/>
              </a:ext>
            </a:extLst>
          </p:cNvPr>
          <p:cNvSpPr txBox="1"/>
          <p:nvPr/>
        </p:nvSpPr>
        <p:spPr>
          <a:xfrm>
            <a:off x="733040" y="1668221"/>
            <a:ext cx="9760593" cy="1709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통합 지갑 주소를 통한 메타버스 아바타 매핑 및 권한 관리</a:t>
            </a:r>
          </a:p>
          <a:p>
            <a:pPr marL="539750" marR="0" indent="-27305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를 통한 권한 관리 기능 실험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  <a:sym typeface="Wingdings" panose="05000000000000000000" pitchFamily="2" charset="2"/>
              </a:rPr>
              <a:t>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  <a:sym typeface="Wingdings" panose="05000000000000000000" pitchFamily="2" charset="2"/>
              </a:rPr>
              <a:t>메타버스 아바타 내 특정 권한 확인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539750" marR="0" indent="-27305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기간 기반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SBT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만료 처리 시나리오 등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  <a:sym typeface="Wingdings" panose="05000000000000000000" pitchFamily="2" charset="2"/>
              </a:rPr>
              <a:t>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  <a:sym typeface="Wingdings" panose="05000000000000000000" pitchFamily="2" charset="2"/>
              </a:rPr>
              <a:t>유효기간이 지난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  <a:sym typeface="Wingdings" panose="05000000000000000000" pitchFamily="2" charset="2"/>
              </a:rPr>
              <a:t>SBT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  <a:sym typeface="Wingdings" panose="05000000000000000000" pitchFamily="2" charset="2"/>
              </a:rPr>
              <a:t>의 사용 불가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  <a:sym typeface="Wingdings" panose="05000000000000000000" pitchFamily="2" charset="2"/>
            </a:endParaRPr>
          </a:p>
          <a:p>
            <a:pPr marL="539750" marR="0" indent="-27305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F463B3AF-56D0-47EE-B01F-22517C72B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593" y="3712889"/>
            <a:ext cx="2035348" cy="246276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B7C38C01-EBD0-4AB3-AB9B-9E528E47F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702" y="3754915"/>
            <a:ext cx="1422516" cy="23787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C43C8A-0B13-4ECA-B7B0-42A6DC0A4389}"/>
              </a:ext>
            </a:extLst>
          </p:cNvPr>
          <p:cNvSpPr txBox="1"/>
          <p:nvPr/>
        </p:nvSpPr>
        <p:spPr>
          <a:xfrm>
            <a:off x="7190463" y="6141372"/>
            <a:ext cx="3296622" cy="27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&lt; SBT 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생성 </a:t>
            </a:r>
            <a:r>
              <a:rPr lang="ko-KR" altLang="en-US" sz="1211" dirty="0" err="1">
                <a:solidFill>
                  <a:prstClr val="black"/>
                </a:solidFill>
                <a:latin typeface="나눔고딕"/>
                <a:ea typeface="나눔고딕"/>
              </a:rPr>
              <a:t>컨트랙트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 및 지갑에 발급된 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&gt;</a:t>
            </a:r>
            <a:endParaRPr lang="en-KR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38CE98-BB90-42BB-81B3-0BBA15E1B90B}"/>
              </a:ext>
            </a:extLst>
          </p:cNvPr>
          <p:cNvSpPr txBox="1"/>
          <p:nvPr/>
        </p:nvSpPr>
        <p:spPr>
          <a:xfrm>
            <a:off x="375555" y="6176964"/>
            <a:ext cx="3043812" cy="337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defTabSz="1007029"/>
            <a:r>
              <a:rPr lang="en-US" altLang="ko-KR" sz="1211" dirty="0">
                <a:latin typeface="나눔고딕"/>
                <a:ea typeface="나눔고딕"/>
              </a:rPr>
              <a:t>&lt;SBT </a:t>
            </a:r>
            <a:r>
              <a:rPr lang="ko-KR" altLang="en-US" sz="1211" dirty="0">
                <a:latin typeface="나눔고딕"/>
                <a:ea typeface="나눔고딕"/>
              </a:rPr>
              <a:t>라이프 사이클 정의</a:t>
            </a:r>
            <a:r>
              <a:rPr lang="en-US" altLang="ko-KR" sz="1211" dirty="0">
                <a:latin typeface="나눔고딕"/>
                <a:ea typeface="나눔고딕"/>
              </a:rPr>
              <a:t>&gt;</a:t>
            </a:r>
            <a:endParaRPr lang="en-US" sz="1211" dirty="0">
              <a:latin typeface="나눔고딕"/>
              <a:ea typeface="나눔고딕"/>
            </a:endParaRPr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8D7248B9-7FC6-4608-BC2C-A427D949E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82" y="3928918"/>
            <a:ext cx="3283969" cy="207977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9CA0DF-5653-4AE8-82DD-6158E756D815}"/>
              </a:ext>
            </a:extLst>
          </p:cNvPr>
          <p:cNvSpPr txBox="1"/>
          <p:nvPr/>
        </p:nvSpPr>
        <p:spPr>
          <a:xfrm>
            <a:off x="3951593" y="6175903"/>
            <a:ext cx="2511169" cy="27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07029"/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&lt;SBT 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권한 관리 규격 예시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&gt;</a:t>
            </a:r>
            <a:endParaRPr lang="en-KR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60F00A2B-7213-4621-A164-5646DF87E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190" y="3946215"/>
            <a:ext cx="2320405" cy="20624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3218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7CC8D4-BB70-4447-8900-60B1B79984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실증 서비스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BBD4EC-0291-422A-AAE2-83FE5A5EC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238871"/>
              </p:ext>
            </p:extLst>
          </p:nvPr>
        </p:nvGraphicFramePr>
        <p:xfrm>
          <a:off x="817572" y="1800349"/>
          <a:ext cx="9461232" cy="5040561"/>
        </p:xfrm>
        <a:graphic>
          <a:graphicData uri="http://schemas.openxmlformats.org/drawingml/2006/table">
            <a:tbl>
              <a:tblPr/>
              <a:tblGrid>
                <a:gridCol w="2642384">
                  <a:extLst>
                    <a:ext uri="{9D8B030D-6E8A-4147-A177-3AD203B41FA5}">
                      <a16:colId xmlns:a16="http://schemas.microsoft.com/office/drawing/2014/main" val="2260411673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3883635348"/>
                    </a:ext>
                  </a:extLst>
                </a:gridCol>
                <a:gridCol w="3434472">
                  <a:extLst>
                    <a:ext uri="{9D8B030D-6E8A-4147-A177-3AD203B41FA5}">
                      <a16:colId xmlns:a16="http://schemas.microsoft.com/office/drawing/2014/main" val="3396862666"/>
                    </a:ext>
                  </a:extLst>
                </a:gridCol>
              </a:tblGrid>
              <a:tr h="4389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페이퍼로지 8 ExtraBold" pitchFamily="2" charset="-127"/>
                          <a:ea typeface="페이퍼로지 8 ExtraBold" pitchFamily="2" charset="-127"/>
                        </a:rPr>
                        <a:t>항목</a:t>
                      </a:r>
                    </a:p>
                  </a:txBody>
                  <a:tcPr marL="75352" marR="75352" marT="37676" marB="3767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페이퍼로지 8 ExtraBold" pitchFamily="2" charset="-127"/>
                          <a:ea typeface="페이퍼로지 8 ExtraBold" pitchFamily="2" charset="-127"/>
                        </a:rPr>
                        <a:t>내용</a:t>
                      </a: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페이퍼로지 8 ExtraBold" pitchFamily="2" charset="-127"/>
                          <a:ea typeface="페이퍼로지 8 ExtraBold" pitchFamily="2" charset="-127"/>
                        </a:rPr>
                        <a:t>적용 기술</a:t>
                      </a: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0101158"/>
                  </a:ext>
                </a:extLst>
              </a:tr>
              <a:tr h="1121636">
                <a:tc>
                  <a:txBody>
                    <a:bodyPr/>
                    <a:lstStyle/>
                    <a:p>
                      <a:pPr marL="0" marR="0" lvl="0" indent="0" algn="ctr" defTabSz="106774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1. </a:t>
                      </a:r>
                      <a:r>
                        <a:rPr lang="ko-KR" alt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메타버스 서비스 구현 </a:t>
                      </a:r>
                      <a:r>
                        <a:rPr lang="en-US" altLang="ko-KR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&amp; </a:t>
                      </a:r>
                      <a:r>
                        <a:rPr lang="ko-KR" alt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활용</a:t>
                      </a:r>
                      <a:endParaRPr lang="ko-KR" altLang="ko-KR" sz="1300" b="1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5352" marR="75352" marT="37676" marB="3767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아바타가 존재하는 </a:t>
                      </a:r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Decentraland 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혹은</a:t>
                      </a:r>
                      <a:endParaRPr lang="en-US" altLang="ko-KR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Unity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WebGL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기반 서비스 메타버스 구현</a:t>
                      </a: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Decentraland, Unity WebGL</a:t>
                      </a:r>
                      <a:endParaRPr lang="ko-KR" altLang="en-US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580861"/>
                  </a:ext>
                </a:extLst>
              </a:tr>
              <a:tr h="1121636">
                <a:tc>
                  <a:txBody>
                    <a:bodyPr/>
                    <a:lstStyle/>
                    <a:p>
                      <a:pPr marL="0" marR="0" lvl="0" indent="0" algn="ctr" defTabSz="106774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2. </a:t>
                      </a:r>
                      <a:r>
                        <a:rPr lang="ko-KR" alt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통합 </a:t>
                      </a:r>
                      <a:r>
                        <a:rPr lang="ko-KR" altLang="ko-KR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지갑 연동 (</a:t>
                      </a:r>
                      <a:r>
                        <a:rPr lang="ko-KR" altLang="ko-KR" sz="1300" b="1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MetaMask</a:t>
                      </a:r>
                      <a:r>
                        <a:rPr lang="en-US" altLang="ko-KR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기반</a:t>
                      </a:r>
                      <a:r>
                        <a:rPr lang="en-US" altLang="ko-KR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ko-KR" sz="1300" b="1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5352" marR="75352" marT="37676" marB="3767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Web3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3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지갑를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선택하고 연결</a:t>
                      </a: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6774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Web3-React, Wallet Connect, </a:t>
                      </a:r>
                      <a:r>
                        <a:rPr lang="en-US" altLang="ko-KR" sz="13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MetaMask</a:t>
                      </a:r>
                      <a:endParaRPr lang="ko-KR" altLang="en-US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52042"/>
                  </a:ext>
                </a:extLst>
              </a:tr>
              <a:tr h="1121636">
                <a:tc>
                  <a:txBody>
                    <a:bodyPr/>
                    <a:lstStyle/>
                    <a:p>
                      <a:pPr marL="0" marR="0" lvl="0" indent="0" algn="ctr" defTabSz="106774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3. </a:t>
                      </a:r>
                      <a:r>
                        <a:rPr lang="ko-KR" altLang="ko-KR" sz="1300" b="1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로그인된</a:t>
                      </a:r>
                      <a:r>
                        <a:rPr lang="ko-KR" altLang="ko-KR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지갑 주소 → 아바타 매핑</a:t>
                      </a:r>
                    </a:p>
                  </a:txBody>
                  <a:tcPr marL="75352" marR="75352" marT="37676" marB="3767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아바타의 </a:t>
                      </a:r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ID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가 지갑 주소와 매핑</a:t>
                      </a: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Decentraland, Unity WebGL, </a:t>
                      </a:r>
                    </a:p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Web3 Smart Contract</a:t>
                      </a:r>
                      <a:endParaRPr lang="ko-KR" altLang="en-US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618727"/>
                  </a:ext>
                </a:extLst>
              </a:tr>
              <a:tr h="1236752">
                <a:tc>
                  <a:txBody>
                    <a:bodyPr/>
                    <a:lstStyle/>
                    <a:p>
                      <a:pPr marL="0" marR="0" lvl="0" indent="0" algn="ctr" defTabSz="106774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4. </a:t>
                      </a:r>
                      <a:r>
                        <a:rPr lang="ko-KR" altLang="ko-KR" sz="13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특정 지역 접근 시 SBT 권한 확인</a:t>
                      </a:r>
                    </a:p>
                  </a:txBody>
                  <a:tcPr marL="75352" marR="75352" marT="37676" marB="3767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아바타가 특정 지역 진입 요청 시</a:t>
                      </a:r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지갑 내 </a:t>
                      </a:r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SBT </a:t>
                      </a: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확인하여 권한 확인</a:t>
                      </a:r>
                      <a:endParaRPr lang="en-US" altLang="ko-KR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/>
                      <a:endParaRPr lang="en-US" altLang="ko-KR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266700" indent="-84138" 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있으면 진입 허용</a:t>
                      </a:r>
                      <a:endParaRPr lang="en-US" altLang="ko-KR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266700" indent="-84138" 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없으면 접근 거부</a:t>
                      </a: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SBT Smart Contract, Web3.js</a:t>
                      </a:r>
                      <a:endParaRPr lang="ko-KR" altLang="en-US" sz="13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5352" marR="75352" marT="37676" marB="37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24716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4C14604-65B4-4BE1-80B8-C97CE3ED8F78}"/>
              </a:ext>
            </a:extLst>
          </p:cNvPr>
          <p:cNvSpPr/>
          <p:nvPr/>
        </p:nvSpPr>
        <p:spPr>
          <a:xfrm>
            <a:off x="558106" y="1152277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A31130-8F00-4F99-BD99-59D78A8A6864}"/>
              </a:ext>
            </a:extLst>
          </p:cNvPr>
          <p:cNvGrpSpPr/>
          <p:nvPr/>
        </p:nvGrpSpPr>
        <p:grpSpPr>
          <a:xfrm>
            <a:off x="579695" y="1277222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ECEC742-4529-4782-85A1-2958F482B14F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ACFC4B-5F5C-45B3-8C76-2CFC41BAAC19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453F513-30A1-4D6B-B921-5EF5D3650ECE}"/>
              </a:ext>
            </a:extLst>
          </p:cNvPr>
          <p:cNvSpPr txBox="1"/>
          <p:nvPr/>
        </p:nvSpPr>
        <p:spPr>
          <a:xfrm>
            <a:off x="890130" y="1213878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latin typeface="나눔고딕"/>
                <a:ea typeface="나눔고딕"/>
              </a:rPr>
              <a:t>메타버스 아바타 권한 관리 실증 서비스 구현 절차</a:t>
            </a:r>
          </a:p>
        </p:txBody>
      </p:sp>
    </p:spTree>
    <p:extLst>
      <p:ext uri="{BB962C8B-B14F-4D97-AF65-F5344CB8AC3E}">
        <p14:creationId xmlns:p14="http://schemas.microsoft.com/office/powerpoint/2010/main" val="194256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1083DC-2F1D-4743-85F6-4BF703566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837" y="404778"/>
            <a:ext cx="4645829" cy="504825"/>
          </a:xfrm>
        </p:spPr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실증 서비스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EE545E-6E80-428B-A8AC-BC8FFF599DD8}"/>
              </a:ext>
            </a:extLst>
          </p:cNvPr>
          <p:cNvSpPr/>
          <p:nvPr/>
        </p:nvSpPr>
        <p:spPr>
          <a:xfrm>
            <a:off x="558106" y="1152277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4131719-1DF6-4A35-8A49-04660189B24F}"/>
              </a:ext>
            </a:extLst>
          </p:cNvPr>
          <p:cNvGrpSpPr/>
          <p:nvPr/>
        </p:nvGrpSpPr>
        <p:grpSpPr>
          <a:xfrm>
            <a:off x="579695" y="1277222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A163374-2A47-48E8-9447-5E4712D05227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4843D3-103B-453D-96B9-4E4BA338A528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9CAA294-6860-44F9-887F-210588A28B00}"/>
              </a:ext>
            </a:extLst>
          </p:cNvPr>
          <p:cNvSpPr txBox="1"/>
          <p:nvPr/>
        </p:nvSpPr>
        <p:spPr>
          <a:xfrm>
            <a:off x="890130" y="1213878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메타버스 아바타 권한 관리 실증 서비스 구현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(1)</a:t>
            </a:r>
            <a:endParaRPr lang="ko-KR" altLang="en-US" sz="1762" b="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FBDC6-C7ED-45A6-8271-CE0E4FF54E63}"/>
              </a:ext>
            </a:extLst>
          </p:cNvPr>
          <p:cNvSpPr txBox="1"/>
          <p:nvPr/>
        </p:nvSpPr>
        <p:spPr>
          <a:xfrm>
            <a:off x="733040" y="1702320"/>
            <a:ext cx="9760593" cy="165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</a:t>
            </a:r>
            <a:r>
              <a:rPr lang="ko-KR" altLang="en-US" sz="1600" b="1" dirty="0">
                <a:latin typeface="페이퍼로지 4 Regular" pitchFamily="2" charset="-127"/>
                <a:ea typeface="페이퍼로지 4 Regular" pitchFamily="2" charset="-127"/>
              </a:rPr>
              <a:t>메타버스 서비스 구현 </a:t>
            </a:r>
            <a:r>
              <a:rPr lang="en-US" altLang="ko-KR" sz="1600" b="1" dirty="0">
                <a:latin typeface="페이퍼로지 4 Regular" pitchFamily="2" charset="-127"/>
                <a:ea typeface="페이퍼로지 4 Regular" pitchFamily="2" charset="-127"/>
              </a:rPr>
              <a:t>&amp; </a:t>
            </a:r>
            <a:r>
              <a:rPr lang="ko-KR" altLang="en-US" sz="1600" b="1" dirty="0">
                <a:latin typeface="페이퍼로지 4 Regular" pitchFamily="2" charset="-127"/>
                <a:ea typeface="페이퍼로지 4 Regular" pitchFamily="2" charset="-127"/>
              </a:rPr>
              <a:t>활용</a:t>
            </a:r>
            <a:endParaRPr lang="ko-KR" altLang="en-US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539750" marR="0" indent="-2730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메타버스 아바타 생성을 위한 메타버스 서비스 구현 필요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539750" marR="0" indent="-2730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Decentraland Scene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을 활용하거나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Unity WebGL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기반 메타버스 구현 예정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909637" lvl="1" indent="-285750" algn="just" fontAlgn="base">
              <a:lnSpc>
                <a:spcPct val="160000"/>
              </a:lnSpc>
              <a:buFont typeface="Wingdings" panose="05000000000000000000" pitchFamily="2" charset="2"/>
              <a:buChar char="ü"/>
              <a:tabLst>
                <a:tab pos="714375" algn="l"/>
              </a:tabLst>
            </a:pPr>
            <a:r>
              <a:rPr lang="en-US" altLang="ko-KR" sz="1100" dirty="0">
                <a:solidFill>
                  <a:prstClr val="black"/>
                </a:solidFill>
                <a:latin typeface="나눔고딕"/>
                <a:ea typeface="나눔고딕"/>
              </a:rPr>
              <a:t>Decentraland Scene : </a:t>
            </a:r>
            <a:r>
              <a:rPr lang="en-US" altLang="ko-KR" sz="1000" dirty="0"/>
              <a:t>Decentraland </a:t>
            </a:r>
            <a:r>
              <a:rPr lang="ko-KR" altLang="en-US" sz="1000" dirty="0"/>
              <a:t>플랫폼 내 </a:t>
            </a:r>
            <a:r>
              <a:rPr lang="en-US" altLang="ko-KR" sz="1000" dirty="0"/>
              <a:t>LAND</a:t>
            </a:r>
            <a:r>
              <a:rPr lang="ko-KR" altLang="en-US" sz="1000" dirty="0"/>
              <a:t>에 배포 가능한 </a:t>
            </a:r>
            <a:r>
              <a:rPr lang="en-US" altLang="ko-KR" sz="1000" dirty="0"/>
              <a:t>Web3 </a:t>
            </a:r>
            <a:r>
              <a:rPr lang="ko-KR" altLang="en-US" sz="1000" dirty="0"/>
              <a:t>연동 </a:t>
            </a:r>
            <a:r>
              <a:rPr lang="en-US" altLang="ko-KR" sz="1000" dirty="0"/>
              <a:t>3D </a:t>
            </a:r>
            <a:r>
              <a:rPr lang="ko-KR" altLang="en-US" sz="1000" dirty="0"/>
              <a:t>공간 단위로</a:t>
            </a:r>
            <a:r>
              <a:rPr lang="en-US" altLang="ko-KR" sz="1000" dirty="0"/>
              <a:t>, </a:t>
            </a:r>
            <a:r>
              <a:rPr lang="ko-KR" altLang="en-US" sz="1000" dirty="0"/>
              <a:t>아바타 권한 관리 실증 활용 가능</a:t>
            </a:r>
            <a:r>
              <a:rPr lang="en-US" altLang="ko-KR" sz="1000" dirty="0"/>
              <a:t> </a:t>
            </a:r>
          </a:p>
          <a:p>
            <a:pPr marL="909637" lvl="1" indent="-285750" algn="just" fontAlgn="base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solidFill>
                  <a:prstClr val="black"/>
                </a:solidFill>
                <a:latin typeface="나눔고딕"/>
                <a:ea typeface="나눔고딕"/>
              </a:rPr>
              <a:t>Unity WebGL : </a:t>
            </a:r>
            <a:r>
              <a:rPr lang="en-US" altLang="ko-KR" sz="1000" dirty="0"/>
              <a:t>Unity</a:t>
            </a:r>
            <a:r>
              <a:rPr lang="ko-KR" altLang="en-US" sz="1000" dirty="0"/>
              <a:t>로 개발된 </a:t>
            </a:r>
            <a:r>
              <a:rPr lang="en-US" altLang="ko-KR" sz="1000" dirty="0"/>
              <a:t>3D </a:t>
            </a:r>
            <a:r>
              <a:rPr lang="ko-KR" altLang="en-US" sz="1000" dirty="0"/>
              <a:t>가상 환경을 웹 브라우저에서 실행 가능하게 하는 방식으로</a:t>
            </a:r>
            <a:r>
              <a:rPr lang="en-US" altLang="ko-KR" sz="1000" dirty="0"/>
              <a:t>, </a:t>
            </a:r>
            <a:r>
              <a:rPr lang="ko-KR" altLang="en-US" sz="1000" dirty="0"/>
              <a:t>커스터마이징 메타버스 서비스 구현 가능 </a:t>
            </a:r>
            <a:endParaRPr lang="en-US" altLang="ko-KR" sz="1100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EBDB75-2259-4845-975B-21CE1C4F2F87}"/>
              </a:ext>
            </a:extLst>
          </p:cNvPr>
          <p:cNvSpPr txBox="1"/>
          <p:nvPr/>
        </p:nvSpPr>
        <p:spPr>
          <a:xfrm>
            <a:off x="1563975" y="6954459"/>
            <a:ext cx="3423552" cy="27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&lt; Decentraland Scene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을 활용한 메타버스 구현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&gt;</a:t>
            </a:r>
            <a:endParaRPr lang="en-KR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0B823A8-CD58-499E-A2D4-CF73479D0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540" y="4216416"/>
            <a:ext cx="4550126" cy="255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elcome to Decentraland">
            <a:extLst>
              <a:ext uri="{FF2B5EF4-FFF2-40B4-BE49-F238E27FC236}">
                <a16:creationId xmlns:a16="http://schemas.microsoft.com/office/drawing/2014/main" id="{2461DB95-0238-4A0E-803E-4D6E54C4D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90" y="3714013"/>
            <a:ext cx="3160035" cy="165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2018-02-05%20(2)">
            <a:extLst>
              <a:ext uri="{FF2B5EF4-FFF2-40B4-BE49-F238E27FC236}">
                <a16:creationId xmlns:a16="http://schemas.microsoft.com/office/drawing/2014/main" id="{849B3FAF-713B-4351-9E9E-750E8ADA6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497" y="4457845"/>
            <a:ext cx="4080850" cy="229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6C86C6-A468-4934-81A3-628A7EF8E669}"/>
              </a:ext>
            </a:extLst>
          </p:cNvPr>
          <p:cNvSpPr txBox="1"/>
          <p:nvPr/>
        </p:nvSpPr>
        <p:spPr>
          <a:xfrm>
            <a:off x="6894810" y="6922283"/>
            <a:ext cx="3423552" cy="27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&lt; Unity WebGL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을 활용한 메타버스 구현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&gt;</a:t>
            </a:r>
            <a:endParaRPr lang="en-KR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pic>
        <p:nvPicPr>
          <p:cNvPr id="3074" name="Picture 2" descr="4차산업 메타버스㊳] “메타버스”… 가상세계 생태계의 혁신 사례 &lt; Metaverse &lt; 4차산업 &lt; 기사본문 - 디지털비즈온">
            <a:extLst>
              <a:ext uri="{FF2B5EF4-FFF2-40B4-BE49-F238E27FC236}">
                <a16:creationId xmlns:a16="http://schemas.microsoft.com/office/drawing/2014/main" id="{BB64F954-E91D-4DE4-9BA4-F0C5615D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718" y="3672557"/>
            <a:ext cx="3225969" cy="174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17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1083DC-2F1D-4743-85F6-4BF703566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837" y="404778"/>
            <a:ext cx="4645829" cy="504825"/>
          </a:xfrm>
        </p:spPr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실증 서비스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EE545E-6E80-428B-A8AC-BC8FFF599DD8}"/>
              </a:ext>
            </a:extLst>
          </p:cNvPr>
          <p:cNvSpPr/>
          <p:nvPr/>
        </p:nvSpPr>
        <p:spPr>
          <a:xfrm>
            <a:off x="558106" y="1152277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4131719-1DF6-4A35-8A49-04660189B24F}"/>
              </a:ext>
            </a:extLst>
          </p:cNvPr>
          <p:cNvGrpSpPr/>
          <p:nvPr/>
        </p:nvGrpSpPr>
        <p:grpSpPr>
          <a:xfrm>
            <a:off x="579695" y="1277222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A163374-2A47-48E8-9447-5E4712D05227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4843D3-103B-453D-96B9-4E4BA338A528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9CAA294-6860-44F9-887F-210588A28B00}"/>
              </a:ext>
            </a:extLst>
          </p:cNvPr>
          <p:cNvSpPr txBox="1"/>
          <p:nvPr/>
        </p:nvSpPr>
        <p:spPr>
          <a:xfrm>
            <a:off x="890130" y="1213878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메타버스 아바타 권한 관리 실증 서비스 구현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(2)</a:t>
            </a:r>
            <a:endParaRPr lang="ko-KR" altLang="en-US" sz="1762" b="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FBDC6-C7ED-45A6-8271-CE0E4FF54E63}"/>
              </a:ext>
            </a:extLst>
          </p:cNvPr>
          <p:cNvSpPr txBox="1"/>
          <p:nvPr/>
        </p:nvSpPr>
        <p:spPr>
          <a:xfrm>
            <a:off x="733040" y="1702320"/>
            <a:ext cx="9760593" cy="1620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</a:t>
            </a:r>
            <a:r>
              <a:rPr lang="ko-KR" altLang="en-US" sz="1600" b="1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지갑 연동</a:t>
            </a:r>
            <a:r>
              <a:rPr lang="en-US" altLang="ko-KR" sz="1600" b="1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Metamask</a:t>
            </a:r>
            <a:r>
              <a:rPr lang="en-US" altLang="ko-KR" sz="1600" b="1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539750" marR="0" indent="-2730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사용자가 </a:t>
            </a:r>
            <a:r>
              <a:rPr lang="en-US" altLang="ko-KR" sz="1322" dirty="0" err="1">
                <a:solidFill>
                  <a:prstClr val="black"/>
                </a:solidFill>
                <a:latin typeface="나눔고딕"/>
                <a:ea typeface="나눔고딕"/>
              </a:rPr>
              <a:t>MetaMask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en-US" altLang="ko-KR" sz="1322" dirty="0" err="1">
                <a:solidFill>
                  <a:prstClr val="black"/>
                </a:solidFill>
                <a:latin typeface="나눔고딕"/>
                <a:ea typeface="나눔고딕"/>
              </a:rPr>
              <a:t>WalletConnect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등을 통해 메타버스 플랫폼에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Web3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지갑을 연결하는 인증 과정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539750" marR="0" indent="-2730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DID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가 연계되는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ko-KR" altLang="en-US" sz="1322" b="1" dirty="0">
                <a:solidFill>
                  <a:prstClr val="black"/>
                </a:solidFill>
                <a:latin typeface="나눔고딕"/>
                <a:ea typeface="나눔고딕"/>
              </a:rPr>
              <a:t>통합 관리지갑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en-US" altLang="ko-KR" sz="1322" dirty="0" err="1">
                <a:solidFill>
                  <a:prstClr val="black"/>
                </a:solidFill>
                <a:latin typeface="나눔고딕"/>
                <a:ea typeface="나눔고딕"/>
              </a:rPr>
              <a:t>Metamask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확장 버전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을 통한 연결 진행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898525" lvl="1" indent="-273050" algn="just" fontAlgn="base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/>
              <a:t>사용자의 </a:t>
            </a:r>
            <a:r>
              <a:rPr lang="en-US" altLang="ko-KR" sz="1050" dirty="0"/>
              <a:t>DID</a:t>
            </a:r>
            <a:r>
              <a:rPr lang="ko-KR" altLang="en-US" sz="1050" dirty="0"/>
              <a:t>를 바탕으로 </a:t>
            </a:r>
            <a:r>
              <a:rPr lang="en-US" altLang="ko-KR" sz="1050" dirty="0"/>
              <a:t>SBT</a:t>
            </a:r>
            <a:r>
              <a:rPr lang="ko-KR" altLang="en-US" sz="1050" dirty="0"/>
              <a:t>를 발급함으로써 디지털 신원 활용 가능</a:t>
            </a:r>
            <a:endParaRPr lang="en-US" altLang="ko-KR" sz="1050" dirty="0"/>
          </a:p>
          <a:p>
            <a:pPr marL="898525" lvl="1" indent="-273050" algn="just" fontAlgn="base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/>
              <a:t>메타버스 기반의 </a:t>
            </a:r>
            <a:r>
              <a:rPr lang="en-US" altLang="ko-KR" sz="1050" dirty="0"/>
              <a:t>SBT </a:t>
            </a:r>
            <a:r>
              <a:rPr lang="ko-KR" altLang="en-US" sz="1050" dirty="0"/>
              <a:t>지원 지갑으로 호환성 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C5329-0FC7-4F5A-BD60-C30453D42471}"/>
              </a:ext>
            </a:extLst>
          </p:cNvPr>
          <p:cNvSpPr txBox="1"/>
          <p:nvPr/>
        </p:nvSpPr>
        <p:spPr>
          <a:xfrm>
            <a:off x="1754340" y="6638720"/>
            <a:ext cx="2611612" cy="278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&lt; Decentraland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에서의 지갑 로그인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&gt;</a:t>
            </a:r>
            <a:endParaRPr lang="ko-KR" altLang="en-US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5CD0F02-4BAB-4C22-8EFB-647EBA2B8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746" y="3819669"/>
            <a:ext cx="4011814" cy="26624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7E0B8A-3C0F-4D83-8243-286CEF277DD1}"/>
              </a:ext>
            </a:extLst>
          </p:cNvPr>
          <p:cNvSpPr txBox="1"/>
          <p:nvPr/>
        </p:nvSpPr>
        <p:spPr>
          <a:xfrm>
            <a:off x="7038826" y="6552877"/>
            <a:ext cx="1983235" cy="278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&lt; Web3 </a:t>
            </a:r>
            <a:r>
              <a:rPr lang="ko-KR" altLang="en-US" sz="1211" dirty="0">
                <a:solidFill>
                  <a:prstClr val="black"/>
                </a:solidFill>
                <a:latin typeface="나눔고딕"/>
                <a:ea typeface="나눔고딕"/>
              </a:rPr>
              <a:t>지갑 로그인 연동</a:t>
            </a:r>
            <a:r>
              <a:rPr lang="en-US" altLang="ko-KR" sz="1211" dirty="0">
                <a:solidFill>
                  <a:prstClr val="black"/>
                </a:solidFill>
                <a:latin typeface="나눔고딕"/>
                <a:ea typeface="나눔고딕"/>
              </a:rPr>
              <a:t>&gt;</a:t>
            </a:r>
            <a:endParaRPr lang="ko-KR" altLang="en-US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0B58B59-1AA7-4B20-A323-A897A9C50E5D}"/>
              </a:ext>
            </a:extLst>
          </p:cNvPr>
          <p:cNvGrpSpPr/>
          <p:nvPr/>
        </p:nvGrpSpPr>
        <p:grpSpPr>
          <a:xfrm>
            <a:off x="914511" y="3888581"/>
            <a:ext cx="4334677" cy="2593510"/>
            <a:chOff x="578208" y="2104099"/>
            <a:chExt cx="2960642" cy="1610365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CF2621D-B6D5-4503-BA2F-EF02CFCE3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208" y="2104099"/>
              <a:ext cx="2960642" cy="1610365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8A7C148-72B0-4D02-9794-C8959C2DFFA2}"/>
                </a:ext>
              </a:extLst>
            </p:cNvPr>
            <p:cNvSpPr/>
            <p:nvPr/>
          </p:nvSpPr>
          <p:spPr>
            <a:xfrm>
              <a:off x="1426307" y="2668774"/>
              <a:ext cx="602518" cy="769064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CD21060-7C06-48A5-9A18-B2A87E03AECF}"/>
                </a:ext>
              </a:extLst>
            </p:cNvPr>
            <p:cNvSpPr/>
            <p:nvPr/>
          </p:nvSpPr>
          <p:spPr>
            <a:xfrm>
              <a:off x="3038475" y="2111564"/>
              <a:ext cx="500375" cy="907174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19159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ecentraland (MANA) VS Sandbox (SAND) — Still Profitable in 2023? | by  Garry Taylor | Coinmonks | Medium">
            <a:extLst>
              <a:ext uri="{FF2B5EF4-FFF2-40B4-BE49-F238E27FC236}">
                <a16:creationId xmlns:a16="http://schemas.microsoft.com/office/drawing/2014/main" id="{277014BE-F654-43B2-A709-C41BB88EB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139" b="61806" l="54141" r="96797">
                        <a14:foregroundMark x1="54141" y1="31944" x2="55391" y2="34722"/>
                        <a14:foregroundMark x1="56953" y1="42639" x2="61953" y2="49861"/>
                        <a14:foregroundMark x1="70000" y1="61944" x2="75469" y2="61944"/>
                        <a14:foregroundMark x1="91563" y1="42500" x2="96797" y2="35972"/>
                        <a14:foregroundMark x1="75938" y1="10278" x2="75938" y2="10278"/>
                        <a14:foregroundMark x1="74141" y1="10972" x2="77656" y2="11528"/>
                        <a14:foregroundMark x1="78047" y1="10139" x2="80391" y2="13889"/>
                        <a14:foregroundMark x1="92422" y1="23611" x2="95000" y2="2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44" t="5428" r="2207" b="33561"/>
          <a:stretch/>
        </p:blipFill>
        <p:spPr bwMode="auto">
          <a:xfrm>
            <a:off x="8702453" y="4283570"/>
            <a:ext cx="1936773" cy="144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1083DC-2F1D-4743-85F6-4BF703566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837" y="404778"/>
            <a:ext cx="4645829" cy="504825"/>
          </a:xfrm>
        </p:spPr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실증 서비스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EE545E-6E80-428B-A8AC-BC8FFF599DD8}"/>
              </a:ext>
            </a:extLst>
          </p:cNvPr>
          <p:cNvSpPr/>
          <p:nvPr/>
        </p:nvSpPr>
        <p:spPr>
          <a:xfrm>
            <a:off x="558106" y="1152277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4131719-1DF6-4A35-8A49-04660189B24F}"/>
              </a:ext>
            </a:extLst>
          </p:cNvPr>
          <p:cNvGrpSpPr/>
          <p:nvPr/>
        </p:nvGrpSpPr>
        <p:grpSpPr>
          <a:xfrm>
            <a:off x="579695" y="1277222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A163374-2A47-48E8-9447-5E4712D05227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4843D3-103B-453D-96B9-4E4BA338A528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9CAA294-6860-44F9-887F-210588A28B00}"/>
              </a:ext>
            </a:extLst>
          </p:cNvPr>
          <p:cNvSpPr txBox="1"/>
          <p:nvPr/>
        </p:nvSpPr>
        <p:spPr>
          <a:xfrm>
            <a:off x="890130" y="1213878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메타버스 아바타 권한 관리 실증 서비스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FBDC6-C7ED-45A6-8271-CE0E4FF54E63}"/>
              </a:ext>
            </a:extLst>
          </p:cNvPr>
          <p:cNvSpPr txBox="1"/>
          <p:nvPr/>
        </p:nvSpPr>
        <p:spPr>
          <a:xfrm>
            <a:off x="733040" y="1702320"/>
            <a:ext cx="9760593" cy="139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특정 지역 접속 시 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SBT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확인</a:t>
            </a:r>
          </a:p>
          <a:p>
            <a:pPr marL="539750" marR="0" indent="-2730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연결된 지갑 주소를 기반으로 아바타와 연관된 상태나 권한을 확인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898525" lvl="1" indent="-98425" algn="just" fontAlgn="base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사용자는 지갑 주소와 </a:t>
            </a:r>
            <a:r>
              <a:rPr lang="ko-KR" altLang="en-US" sz="1322" dirty="0" err="1">
                <a:solidFill>
                  <a:prstClr val="black"/>
                </a:solidFill>
                <a:latin typeface="나눔고딕"/>
                <a:ea typeface="나눔고딕"/>
              </a:rPr>
              <a:t>매핑되어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 있으며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보유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NFT 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뿐만 아니라 </a:t>
            </a:r>
            <a:r>
              <a:rPr lang="en-US" altLang="ko-KR" sz="1322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322" dirty="0">
                <a:solidFill>
                  <a:prstClr val="black"/>
                </a:solidFill>
                <a:latin typeface="나눔고딕"/>
                <a:ea typeface="나눔고딕"/>
              </a:rPr>
              <a:t>를 통해 플랫폼 내의 서비스 통제 가능</a:t>
            </a:r>
            <a:endParaRPr lang="en-US" altLang="ko-KR" sz="1322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266700"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322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3AE8B84-8E2C-4E0C-B7B4-C5AA85C20941}"/>
              </a:ext>
            </a:extLst>
          </p:cNvPr>
          <p:cNvGrpSpPr/>
          <p:nvPr/>
        </p:nvGrpSpPr>
        <p:grpSpPr>
          <a:xfrm>
            <a:off x="686193" y="3156886"/>
            <a:ext cx="5027121" cy="1757268"/>
            <a:chOff x="1596183" y="2637310"/>
            <a:chExt cx="5529833" cy="193299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A55925E-2A1C-4DE3-8DAD-E088372D3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53257" y="2742064"/>
              <a:ext cx="2872759" cy="1757266"/>
            </a:xfrm>
            <a:prstGeom prst="rect">
              <a:avLst/>
            </a:prstGeom>
          </p:spPr>
        </p:pic>
        <p:pic>
          <p:nvPicPr>
            <p:cNvPr id="37" name="Picture 8" descr="Ethereum Wallet Icon - Download in Flat Style">
              <a:extLst>
                <a:ext uri="{FF2B5EF4-FFF2-40B4-BE49-F238E27FC236}">
                  <a16:creationId xmlns:a16="http://schemas.microsoft.com/office/drawing/2014/main" id="{A9C4865B-68EF-47B7-9CF9-A02219A7C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6183" y="3550262"/>
              <a:ext cx="329503" cy="355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A52AB4-8775-4F8A-9660-31433FB5179F}"/>
                </a:ext>
              </a:extLst>
            </p:cNvPr>
            <p:cNvSpPr txBox="1"/>
            <p:nvPr/>
          </p:nvSpPr>
          <p:spPr>
            <a:xfrm>
              <a:off x="1976737" y="3603807"/>
              <a:ext cx="66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wallet1</a:t>
              </a:r>
              <a:endParaRPr lang="ko-KR" altLang="en-US" sz="1200" dirty="0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28C84A9-C74C-48BA-A264-891F13482D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6843" b="91261" l="1009" r="23248">
                          <a14:foregroundMark x1="8422" y1="13932" x2="9884" y2="36109"/>
                          <a14:foregroundMark x1="14509" y1="50579" x2="14624" y2="51525"/>
                          <a14:foregroundMark x1="12405" y1="33306" x2="13852" y2="45189"/>
                          <a14:foregroundMark x1="2572" y1="44600" x2="2572" y2="44600"/>
                          <a14:foregroundMark x1="1563" y1="49711" x2="1563" y2="49711"/>
                          <a14:foregroundMark x1="1059" y1="54493" x2="1059" y2="54493"/>
                          <a14:foregroundMark x1="1059" y1="57131" x2="1261" y2="48557"/>
                          <a14:foregroundMark x1="10792" y1="16488" x2="11901" y2="18467"/>
                          <a14:foregroundMark x1="14322" y1="22918" x2="13111" y2="27535"/>
                          <a14:foregroundMark x1="7816" y1="13273" x2="8119" y2="8986"/>
                          <a14:foregroundMark x1="8422" y1="7172" x2="9279" y2="6843"/>
                          <a14:foregroundMark x1="15532" y1="52844" x2="15835" y2="57296"/>
                          <a14:foregroundMark x1="15330" y1="60676" x2="16541" y2="63314"/>
                          <a14:foregroundMark x1="19465" y1="60841" x2="19768" y2="65128"/>
                          <a14:foregroundMark x1="19768" y1="65128" x2="21684" y2="67271"/>
                          <a14:foregroundMark x1="22844" y1="65622" x2="22945" y2="72053"/>
                          <a14:foregroundMark x1="21886" y1="74196" x2="19566" y2="79720"/>
                          <a14:foregroundMark x1="20676" y1="77494" x2="22340" y2="74031"/>
                          <a14:foregroundMark x1="23248" y1="72877" x2="18961" y2="78813"/>
                          <a14:foregroundMark x1="10792" y1="90437" x2="10691" y2="91261"/>
                          <a14:foregroundMark x1="5598" y1="90767" x2="4791" y2="90767"/>
                          <a14:foregroundMark x1="10086" y1="90767" x2="11498" y2="91261"/>
                          <a14:backgroundMark x1="3026" y1="50618" x2="2975" y2="52844"/>
                          <a14:backgroundMark x1="12960" y1="45589" x2="13868" y2="50866"/>
                          <a14:backgroundMark x1="13817" y1="54246" x2="13817" y2="54823"/>
                          <a14:backgroundMark x1="14221" y1="62407" x2="14221" y2="62407"/>
                          <a14:backgroundMark x1="3631" y1="44847" x2="3631" y2="44847"/>
                          <a14:backgroundMark x1="3580" y1="46908" x2="3580" y2="46908"/>
                          <a14:backgroundMark x1="2219" y1="17725" x2="2219" y2="17725"/>
                          <a14:backgroundMark x1="13969" y1="15004" x2="13969" y2="15004"/>
                        </a14:backgroundRemoval>
                      </a14:imgEffect>
                    </a14:imgLayer>
                  </a14:imgProps>
                </a:ext>
              </a:extLst>
            </a:blip>
            <a:srcRect r="75291"/>
            <a:stretch/>
          </p:blipFill>
          <p:spPr>
            <a:xfrm>
              <a:off x="3191624" y="2637310"/>
              <a:ext cx="780823" cy="1932994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E9896D1-8CB6-4B93-9ACD-21164C47A4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4936" r="60611" b="91876"/>
            <a:stretch/>
          </p:blipFill>
          <p:spPr>
            <a:xfrm>
              <a:off x="1629089" y="3981746"/>
              <a:ext cx="978990" cy="336652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4BFDCAB-5B36-4FCD-B621-D21564652DCA}"/>
              </a:ext>
            </a:extLst>
          </p:cNvPr>
          <p:cNvGrpSpPr/>
          <p:nvPr/>
        </p:nvGrpSpPr>
        <p:grpSpPr>
          <a:xfrm>
            <a:off x="675521" y="5311306"/>
            <a:ext cx="5057103" cy="1781921"/>
            <a:chOff x="1580534" y="4921529"/>
            <a:chExt cx="5562813" cy="196011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322E5D8-2B91-40A3-9F5A-5A428A0B2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70589" y="5129979"/>
              <a:ext cx="2872758" cy="1619928"/>
            </a:xfrm>
            <a:prstGeom prst="rect">
              <a:avLst/>
            </a:prstGeom>
          </p:spPr>
        </p:pic>
        <p:pic>
          <p:nvPicPr>
            <p:cNvPr id="39" name="Picture 8" descr="Ethereum Wallet Icon - Download in Flat Style">
              <a:extLst>
                <a:ext uri="{FF2B5EF4-FFF2-40B4-BE49-F238E27FC236}">
                  <a16:creationId xmlns:a16="http://schemas.microsoft.com/office/drawing/2014/main" id="{792AD44C-B97E-410F-A4A1-078F5A8409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0534" y="5427259"/>
              <a:ext cx="329503" cy="355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F399AE5-9C6B-4A20-ACC5-806EF6937D3B}"/>
                </a:ext>
              </a:extLst>
            </p:cNvPr>
            <p:cNvSpPr txBox="1"/>
            <p:nvPr/>
          </p:nvSpPr>
          <p:spPr>
            <a:xfrm>
              <a:off x="1972412" y="5494126"/>
              <a:ext cx="6864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walletN</a:t>
              </a:r>
              <a:endParaRPr lang="ko-KR" altLang="en-US" sz="1200" dirty="0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95F63F5-DEB3-4C64-B4A2-83DA003222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3952" b="90484" l="3047" r="31469">
                          <a14:foregroundMark x1="20737" y1="5806" x2="30332" y2="3952"/>
                          <a14:foregroundMark x1="28240" y1="6452" x2="26739" y2="11129"/>
                          <a14:foregroundMark x1="30150" y1="6129" x2="31514" y2="3952"/>
                          <a14:foregroundMark x1="12960" y1="89032" x2="12960" y2="89032"/>
                          <a14:foregroundMark x1="13415" y1="90161" x2="13415" y2="90161"/>
                          <a14:foregroundMark x1="12324" y1="90000" x2="13142" y2="89516"/>
                          <a14:foregroundMark x1="16598" y1="90323" x2="19100" y2="90484"/>
                          <a14:foregroundMark x1="23622" y1="27741" x2="24648" y2="16935"/>
                          <a14:foregroundMark x1="23151" y1="32704" x2="23467" y2="29376"/>
                          <a14:foregroundMark x1="22949" y1="34839" x2="23079" y2="33467"/>
                          <a14:foregroundMark x1="22765" y1="36774" x2="22910" y2="35242"/>
                          <a14:foregroundMark x1="22374" y1="40887" x2="22765" y2="36774"/>
                          <a14:foregroundMark x1="23465" y1="14194" x2="20555" y2="3952"/>
                          <a14:foregroundMark x1="26558" y1="6613" x2="30423" y2="5323"/>
                          <a14:backgroundMark x1="22419" y1="28306" x2="23056" y2="29839"/>
                          <a14:backgroundMark x1="22510" y1="32339" x2="22374" y2="33065"/>
                          <a14:backgroundMark x1="22055" y1="34839" x2="22055" y2="35242"/>
                          <a14:backgroundMark x1="22010" y1="36774" x2="22010" y2="36774"/>
                          <a14:backgroundMark x1="19509" y1="43871" x2="19509" y2="43871"/>
                          <a14:backgroundMark x1="19281" y1="44919" x2="19281" y2="44919"/>
                          <a14:backgroundMark x1="19327" y1="45887" x2="19327" y2="44194"/>
                          <a14:backgroundMark x1="22192" y1="39032" x2="22237" y2="37500"/>
                          <a14:backgroundMark x1="12369" y1="43306" x2="12369" y2="44597"/>
                          <a14:backgroundMark x1="10960" y1="52500" x2="10960" y2="53387"/>
                          <a14:backgroundMark x1="20418" y1="52500" x2="20600" y2="54113"/>
                          <a14:backgroundMark x1="20919" y1="59032" x2="20919" y2="59032"/>
                          <a14:backgroundMark x1="20737" y1="60081" x2="20737" y2="60081"/>
                          <a14:backgroundMark x1="10687" y1="60323" x2="10687" y2="60323"/>
                        </a14:backgroundRemoval>
                      </a14:imgEffect>
                    </a14:imgLayer>
                  </a14:imgProps>
                </a:ext>
              </a:extLst>
            </a:blip>
            <a:srcRect r="69001"/>
            <a:stretch/>
          </p:blipFill>
          <p:spPr>
            <a:xfrm>
              <a:off x="2936965" y="4921529"/>
              <a:ext cx="1077525" cy="1960113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8FD5B73-001E-454B-9EFA-BC0D740DDF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30515" t="-233" r="57534" b="90638"/>
            <a:stretch/>
          </p:blipFill>
          <p:spPr>
            <a:xfrm>
              <a:off x="1608792" y="5889902"/>
              <a:ext cx="979568" cy="443454"/>
            </a:xfrm>
            <a:prstGeom prst="rect">
              <a:avLst/>
            </a:prstGeom>
          </p:spPr>
        </p:pic>
      </p:grpSp>
      <p:pic>
        <p:nvPicPr>
          <p:cNvPr id="1026" name="Picture 2" descr="1,565,000개 이상의 Badge 스톡 일러스트, Royalty-Free 벡터 그래픽 및 클립 아트 - iStock">
            <a:extLst>
              <a:ext uri="{FF2B5EF4-FFF2-40B4-BE49-F238E27FC236}">
                <a16:creationId xmlns:a16="http://schemas.microsoft.com/office/drawing/2014/main" id="{EAAE739D-CBC1-4FD3-8AAE-6EEF902A5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7"/>
          <a:stretch/>
        </p:blipFill>
        <p:spPr bwMode="auto">
          <a:xfrm>
            <a:off x="6221806" y="3672557"/>
            <a:ext cx="859660" cy="115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49C4A6-2B77-48E6-97FA-05AF75BA030C}"/>
              </a:ext>
            </a:extLst>
          </p:cNvPr>
          <p:cNvSpPr txBox="1"/>
          <p:nvPr/>
        </p:nvSpPr>
        <p:spPr>
          <a:xfrm>
            <a:off x="5835321" y="3919942"/>
            <a:ext cx="3417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pic>
        <p:nvPicPr>
          <p:cNvPr id="58" name="Picture 3">
            <a:extLst>
              <a:ext uri="{FF2B5EF4-FFF2-40B4-BE49-F238E27FC236}">
                <a16:creationId xmlns:a16="http://schemas.microsoft.com/office/drawing/2014/main" id="{ADEA1C22-0D7A-487E-8BB3-8B8FEC8C5D93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4522" t="14650" r="7000" b="32451"/>
          <a:stretch/>
        </p:blipFill>
        <p:spPr>
          <a:xfrm>
            <a:off x="6335811" y="3174654"/>
            <a:ext cx="533781" cy="5336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6F8616-627D-445B-886A-162779BB966F}"/>
              </a:ext>
            </a:extLst>
          </p:cNvPr>
          <p:cNvSpPr txBox="1"/>
          <p:nvPr/>
        </p:nvSpPr>
        <p:spPr>
          <a:xfrm>
            <a:off x="4360397" y="4849632"/>
            <a:ext cx="502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NFT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8D39A11-1D1F-45EE-A9DA-8293A5C55868}"/>
              </a:ext>
            </a:extLst>
          </p:cNvPr>
          <p:cNvCxnSpPr>
            <a:cxnSpLocks/>
            <a:stCxn id="58" idx="3"/>
            <a:endCxn id="1032" idx="1"/>
          </p:cNvCxnSpPr>
          <p:nvPr/>
        </p:nvCxnSpPr>
        <p:spPr>
          <a:xfrm>
            <a:off x="6869592" y="3441482"/>
            <a:ext cx="2064052" cy="1182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45FBC5C-8197-47E1-B14F-80790ACEC4E8}"/>
              </a:ext>
            </a:extLst>
          </p:cNvPr>
          <p:cNvSpPr txBox="1"/>
          <p:nvPr/>
        </p:nvSpPr>
        <p:spPr>
          <a:xfrm>
            <a:off x="7605324" y="4219119"/>
            <a:ext cx="811441" cy="278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11">
                <a:solidFill>
                  <a:prstClr val="black"/>
                </a:solidFill>
                <a:latin typeface="나눔고딕"/>
                <a:ea typeface="나눔고딕"/>
              </a:rPr>
              <a:t>접근 가능</a:t>
            </a:r>
            <a:endParaRPr lang="ko-KR" altLang="en-US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pic>
        <p:nvPicPr>
          <p:cNvPr id="1032" name="Picture 8" descr="대학교 - 무료 건물개 아이콘">
            <a:extLst>
              <a:ext uri="{FF2B5EF4-FFF2-40B4-BE49-F238E27FC236}">
                <a16:creationId xmlns:a16="http://schemas.microsoft.com/office/drawing/2014/main" id="{0477BE72-AC0C-4AD9-AF08-86445F03A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644" y="4294507"/>
            <a:ext cx="659005" cy="65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1,565,000개 이상의 Badge 스톡 일러스트, Royalty-Free 벡터 그래픽 및 클립 아트 - iStock">
            <a:extLst>
              <a:ext uri="{FF2B5EF4-FFF2-40B4-BE49-F238E27FC236}">
                <a16:creationId xmlns:a16="http://schemas.microsoft.com/office/drawing/2014/main" id="{3ACC026C-629B-4AB2-865E-1C836BF6E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63" t="-780" r="-4563" b="780"/>
          <a:stretch/>
        </p:blipFill>
        <p:spPr bwMode="auto">
          <a:xfrm>
            <a:off x="6289378" y="5593846"/>
            <a:ext cx="943563" cy="139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80BD97F-DC10-44AF-A9BA-420D7A61A1FA}"/>
              </a:ext>
            </a:extLst>
          </p:cNvPr>
          <p:cNvSpPr txBox="1"/>
          <p:nvPr/>
        </p:nvSpPr>
        <p:spPr>
          <a:xfrm>
            <a:off x="4297543" y="6973468"/>
            <a:ext cx="502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NFT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70C220-36AC-4CC8-89C2-7294F6CCF6CA}"/>
              </a:ext>
            </a:extLst>
          </p:cNvPr>
          <p:cNvSpPr txBox="1"/>
          <p:nvPr/>
        </p:nvSpPr>
        <p:spPr>
          <a:xfrm>
            <a:off x="6361386" y="4794126"/>
            <a:ext cx="48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SBT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CF8BDA-AED7-4C50-99C1-4B4D722F980D}"/>
              </a:ext>
            </a:extLst>
          </p:cNvPr>
          <p:cNvSpPr txBox="1"/>
          <p:nvPr/>
        </p:nvSpPr>
        <p:spPr>
          <a:xfrm>
            <a:off x="6497027" y="6942228"/>
            <a:ext cx="48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SBT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21F3EE-1FE9-48CC-8FA4-CA227F7EADA7}"/>
              </a:ext>
            </a:extLst>
          </p:cNvPr>
          <p:cNvSpPr txBox="1"/>
          <p:nvPr/>
        </p:nvSpPr>
        <p:spPr>
          <a:xfrm>
            <a:off x="5878074" y="609464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/>
              <a:t>+</a:t>
            </a:r>
            <a:endParaRPr lang="ko-KR" altLang="en-US" sz="1800" dirty="0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6D4BFD4-52A4-443C-BA43-1C091AD47CDB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7232941" y="5056443"/>
            <a:ext cx="1771699" cy="1233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FF495B8-13A9-48B4-AF2D-3C6352787DF0}"/>
              </a:ext>
            </a:extLst>
          </p:cNvPr>
          <p:cNvSpPr txBox="1"/>
          <p:nvPr/>
        </p:nvSpPr>
        <p:spPr>
          <a:xfrm>
            <a:off x="7708317" y="5833871"/>
            <a:ext cx="957313" cy="278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11">
                <a:solidFill>
                  <a:prstClr val="black"/>
                </a:solidFill>
                <a:latin typeface="나눔고딕"/>
                <a:ea typeface="나눔고딕"/>
              </a:rPr>
              <a:t>접근 불가능</a:t>
            </a:r>
            <a:endParaRPr lang="ko-KR" altLang="en-US" sz="121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105214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1083DC-2F1D-4743-85F6-4BF703566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837" y="404778"/>
            <a:ext cx="4645829" cy="504825"/>
          </a:xfrm>
        </p:spPr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실증 서비스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EE545E-6E80-428B-A8AC-BC8FFF599DD8}"/>
              </a:ext>
            </a:extLst>
          </p:cNvPr>
          <p:cNvSpPr/>
          <p:nvPr/>
        </p:nvSpPr>
        <p:spPr>
          <a:xfrm>
            <a:off x="558106" y="1152277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4131719-1DF6-4A35-8A49-04660189B24F}"/>
              </a:ext>
            </a:extLst>
          </p:cNvPr>
          <p:cNvGrpSpPr/>
          <p:nvPr/>
        </p:nvGrpSpPr>
        <p:grpSpPr>
          <a:xfrm>
            <a:off x="579695" y="1277222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A163374-2A47-48E8-9447-5E4712D05227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4843D3-103B-453D-96B9-4E4BA338A528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9CAA294-6860-44F9-887F-210588A28B00}"/>
              </a:ext>
            </a:extLst>
          </p:cNvPr>
          <p:cNvSpPr txBox="1"/>
          <p:nvPr/>
        </p:nvSpPr>
        <p:spPr>
          <a:xfrm>
            <a:off x="890130" y="1213878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메타버스 실증 서비스 확장 시나리오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BBC54E-935D-4052-AF7C-C6889CE73C2F}"/>
              </a:ext>
            </a:extLst>
          </p:cNvPr>
          <p:cNvSpPr txBox="1"/>
          <p:nvPr/>
        </p:nvSpPr>
        <p:spPr>
          <a:xfrm>
            <a:off x="718369" y="1656641"/>
            <a:ext cx="9760593" cy="1915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 SBT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보관 여부를 통해 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DAO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투표권 권한 부여 시스템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285750" lvl="1" indent="-285750" algn="just" fontAlgn="base">
              <a:lnSpc>
                <a:spcPct val="200000"/>
              </a:lnSpc>
              <a:buFontTx/>
              <a:buChar char="-"/>
            </a:pP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기간제한형 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를 통해 이벤트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페스티벌 기간 입장권 시스템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285750" lvl="1" indent="-285750" algn="just" fontAlgn="base">
              <a:lnSpc>
                <a:spcPct val="200000"/>
              </a:lnSpc>
              <a:buFontTx/>
              <a:buChar char="-"/>
            </a:pP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지역 기반 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를 활용해 특정 도시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,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국가 전용 서비스 제한 시스템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285750" lvl="1" indent="-285750" algn="just" fontAlgn="base">
              <a:lnSpc>
                <a:spcPct val="200000"/>
              </a:lnSpc>
              <a:buFontTx/>
              <a:buChar char="-"/>
            </a:pP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직업 소속 인증 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SBT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를 통해 업무 협업 </a:t>
            </a:r>
            <a:r>
              <a:rPr lang="ko-KR" altLang="en-US" sz="1542" b="1">
                <a:solidFill>
                  <a:prstClr val="black"/>
                </a:solidFill>
                <a:latin typeface="나눔고딕"/>
                <a:ea typeface="나눔고딕"/>
              </a:rPr>
              <a:t>공간 제어 시스템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657AC2-65E5-4F14-9D8C-E185B7BFC308}"/>
              </a:ext>
            </a:extLst>
          </p:cNvPr>
          <p:cNvSpPr/>
          <p:nvPr/>
        </p:nvSpPr>
        <p:spPr>
          <a:xfrm>
            <a:off x="558106" y="4298630"/>
            <a:ext cx="985596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5CF22F8-0871-4EAF-80D2-435D14F6991A}"/>
              </a:ext>
            </a:extLst>
          </p:cNvPr>
          <p:cNvGrpSpPr/>
          <p:nvPr/>
        </p:nvGrpSpPr>
        <p:grpSpPr>
          <a:xfrm>
            <a:off x="579695" y="4423575"/>
            <a:ext cx="237877" cy="237877"/>
            <a:chOff x="3021758" y="2737397"/>
            <a:chExt cx="237815" cy="23781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5304912-C8AF-441A-BBB6-E1E7F913C060}"/>
                </a:ext>
              </a:extLst>
            </p:cNvPr>
            <p:cNvSpPr/>
            <p:nvPr/>
          </p:nvSpPr>
          <p:spPr>
            <a:xfrm>
              <a:off x="3021758" y="2737397"/>
              <a:ext cx="237815" cy="237815"/>
            </a:xfrm>
            <a:prstGeom prst="ellipse">
              <a:avLst/>
            </a:prstGeom>
            <a:solidFill>
              <a:srgbClr val="208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A4E8DA9-331C-46AE-98F8-12F8A31280D7}"/>
                </a:ext>
              </a:extLst>
            </p:cNvPr>
            <p:cNvSpPr/>
            <p:nvPr/>
          </p:nvSpPr>
          <p:spPr>
            <a:xfrm>
              <a:off x="3073323" y="2788964"/>
              <a:ext cx="134685" cy="13468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7029"/>
              <a:endParaRPr lang="ko-KR" altLang="en-US" sz="1762">
                <a:solidFill>
                  <a:prstClr val="white"/>
                </a:solidFill>
                <a:latin typeface="나눔고딕"/>
                <a:ea typeface="나눔고딕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5D03637-C448-47B1-A75C-DB50C6D9BF18}"/>
              </a:ext>
            </a:extLst>
          </p:cNvPr>
          <p:cNvSpPr txBox="1"/>
          <p:nvPr/>
        </p:nvSpPr>
        <p:spPr>
          <a:xfrm>
            <a:off x="890130" y="4360231"/>
            <a:ext cx="8071870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7029"/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권한 관리</a:t>
            </a:r>
            <a:r>
              <a:rPr lang="en-US" altLang="ko-KR" sz="1762" b="1" dirty="0">
                <a:solidFill>
                  <a:prstClr val="black"/>
                </a:solidFill>
                <a:latin typeface="나눔고딕"/>
                <a:ea typeface="나눔고딕"/>
              </a:rPr>
              <a:t>) </a:t>
            </a:r>
            <a:r>
              <a:rPr lang="ko-KR" altLang="en-US" sz="1762" b="1" dirty="0">
                <a:solidFill>
                  <a:prstClr val="black"/>
                </a:solidFill>
                <a:latin typeface="나눔고딕"/>
                <a:ea typeface="나눔고딕"/>
              </a:rPr>
              <a:t>기대효과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2F521D-C647-4DA8-9E12-A8AB359E85F8}"/>
              </a:ext>
            </a:extLst>
          </p:cNvPr>
          <p:cNvSpPr txBox="1"/>
          <p:nvPr/>
        </p:nvSpPr>
        <p:spPr>
          <a:xfrm>
            <a:off x="718369" y="4802994"/>
            <a:ext cx="9760593" cy="1440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 Web3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기반 메타버스 표준 연계 준비로 향후 다양한 플랫폼과의 상호운용성 확보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R="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-   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메타버스 사용자 신원 확인을 지갑 기반으로 통합 관리하여 로그인 편의성과 서비스 권한제어를 동시에 확보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285750" marR="0" indent="-285750" algn="just" fontAlgn="base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기간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역할</a:t>
            </a:r>
            <a:r>
              <a:rPr lang="en-US" altLang="ko-KR" sz="1542" b="1" dirty="0"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542" b="1" dirty="0">
                <a:solidFill>
                  <a:prstClr val="black"/>
                </a:solidFill>
                <a:latin typeface="나눔고딕"/>
                <a:ea typeface="나눔고딕"/>
              </a:rPr>
              <a:t>지역 등 다양한 조건 기반 권한 설정이 가능하여 서비스 확장성이 높음</a:t>
            </a:r>
            <a:endParaRPr lang="en-US" altLang="ko-KR" sz="1542" b="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33129360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